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72" r:id="rId3"/>
    <p:sldId id="362" r:id="rId4"/>
    <p:sldId id="363" r:id="rId5"/>
    <p:sldId id="259" r:id="rId6"/>
    <p:sldId id="260" r:id="rId7"/>
    <p:sldId id="261" r:id="rId8"/>
    <p:sldId id="268" r:id="rId9"/>
    <p:sldId id="269" r:id="rId10"/>
    <p:sldId id="264" r:id="rId11"/>
    <p:sldId id="265" r:id="rId12"/>
    <p:sldId id="270" r:id="rId13"/>
    <p:sldId id="271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8"/>
    <a:srgbClr val="D73E78"/>
    <a:srgbClr val="AFFFDF"/>
    <a:srgbClr val="DCC5ED"/>
    <a:srgbClr val="CCFF99"/>
    <a:srgbClr val="FB9E5D"/>
    <a:srgbClr val="ECA6C1"/>
    <a:srgbClr val="F9C1B9"/>
    <a:srgbClr val="EF5C4A"/>
    <a:srgbClr val="F06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06" autoAdjust="0"/>
  </p:normalViewPr>
  <p:slideViewPr>
    <p:cSldViewPr snapToGrid="0" snapToObjects="1">
      <p:cViewPr>
        <p:scale>
          <a:sx n="87" d="100"/>
          <a:sy n="87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F172A"/>
                </a:solidFill>
                <a:latin typeface="Arial"/>
              </a:rPr>
              <a:t>CA Net par produit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Net (€)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737-4E0D-8FB4-93EB254CF7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37-4E0D-8FB4-93EB254CF7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737-4E0D-8FB4-93EB254CF79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37-4E0D-8FB4-93EB254CF79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6737-4E0D-8FB4-93EB254CF79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737-4E0D-8FB4-93EB254CF79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737-4E0D-8FB4-93EB254CF79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6737-4E0D-8FB4-93EB254CF797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737-4E0D-8FB4-93EB254CF797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737-4E0D-8FB4-93EB254CF797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6737-4E0D-8FB4-93EB254CF797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737-4E0D-8FB4-93EB254CF797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737-4E0D-8FB4-93EB254CF797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6737-4E0D-8FB4-93EB254CF797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2-6737-4E0D-8FB4-93EB254CF7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P100</c:v>
                </c:pt>
                <c:pt idx="1">
                  <c:v>P101</c:v>
                </c:pt>
                <c:pt idx="2">
                  <c:v>P102</c:v>
                </c:pt>
                <c:pt idx="3">
                  <c:v>P103</c:v>
                </c:pt>
                <c:pt idx="4">
                  <c:v>P104</c:v>
                </c:pt>
                <c:pt idx="5">
                  <c:v>P105</c:v>
                </c:pt>
                <c:pt idx="6">
                  <c:v>P106</c:v>
                </c:pt>
                <c:pt idx="7">
                  <c:v>P107</c:v>
                </c:pt>
                <c:pt idx="8">
                  <c:v>P108</c:v>
                </c:pt>
                <c:pt idx="9">
                  <c:v>P109</c:v>
                </c:pt>
                <c:pt idx="10">
                  <c:v>P110</c:v>
                </c:pt>
                <c:pt idx="11">
                  <c:v>P111</c:v>
                </c:pt>
                <c:pt idx="12">
                  <c:v>P112</c:v>
                </c:pt>
                <c:pt idx="13">
                  <c:v>P113</c:v>
                </c:pt>
                <c:pt idx="14">
                  <c:v>P114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6.58</c:v>
                </c:pt>
                <c:pt idx="1">
                  <c:v>382.9</c:v>
                </c:pt>
                <c:pt idx="2">
                  <c:v>164.91</c:v>
                </c:pt>
                <c:pt idx="3">
                  <c:v>129.25</c:v>
                </c:pt>
                <c:pt idx="4">
                  <c:v>79.34</c:v>
                </c:pt>
                <c:pt idx="5">
                  <c:v>187.09</c:v>
                </c:pt>
                <c:pt idx="6">
                  <c:v>7.82</c:v>
                </c:pt>
                <c:pt idx="7">
                  <c:v>1074.51</c:v>
                </c:pt>
                <c:pt idx="8">
                  <c:v>630.86</c:v>
                </c:pt>
                <c:pt idx="9">
                  <c:v>1.64</c:v>
                </c:pt>
                <c:pt idx="10">
                  <c:v>1651.39</c:v>
                </c:pt>
                <c:pt idx="11">
                  <c:v>268.7</c:v>
                </c:pt>
                <c:pt idx="12">
                  <c:v>1815.18</c:v>
                </c:pt>
                <c:pt idx="13">
                  <c:v>52.2</c:v>
                </c:pt>
                <c:pt idx="14">
                  <c:v>2201.0300000000002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737-4E0D-8FB4-93EB254CF7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01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651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5C580E-BB86-44DE-82B0-81F3BB94690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34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0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7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8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3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6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5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7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5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3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2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0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">
            <a:extLst>
              <a:ext uri="{FF2B5EF4-FFF2-40B4-BE49-F238E27FC236}">
                <a16:creationId xmlns:a16="http://schemas.microsoft.com/office/drawing/2014/main" id="{2D8309B8-79C8-35FB-77D7-BB1722428F22}"/>
              </a:ext>
            </a:extLst>
          </p:cNvPr>
          <p:cNvSpPr/>
          <p:nvPr/>
        </p:nvSpPr>
        <p:spPr>
          <a:xfrm>
            <a:off x="502920" y="544449"/>
            <a:ext cx="8138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0"/>
          <p:cNvSpPr/>
          <p:nvPr/>
        </p:nvSpPr>
        <p:spPr>
          <a:xfrm>
            <a:off x="7433310" y="3447669"/>
            <a:ext cx="4572000" cy="45720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 w="12700">
            <a:solidFill>
              <a:schemeClr val="accent1">
                <a:lumMod val="75000"/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92892D7-D573-D6D5-DD42-05316A9545E3}"/>
              </a:ext>
            </a:extLst>
          </p:cNvPr>
          <p:cNvSpPr/>
          <p:nvPr/>
        </p:nvSpPr>
        <p:spPr>
          <a:xfrm>
            <a:off x="594360" y="1644015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2D0C25F-2346-EE80-1BE3-80EED27E1EE5}"/>
              </a:ext>
            </a:extLst>
          </p:cNvPr>
          <p:cNvSpPr/>
          <p:nvPr/>
        </p:nvSpPr>
        <p:spPr>
          <a:xfrm>
            <a:off x="630936" y="227152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Projet de Fin d'Année  —  Matière : Logiciels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2438C99-9C7D-9F30-9147-CE7BE08FDE56}"/>
              </a:ext>
            </a:extLst>
          </p:cNvPr>
          <p:cNvSpPr/>
          <p:nvPr/>
        </p:nvSpPr>
        <p:spPr>
          <a:xfrm>
            <a:off x="630936" y="2466975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060"/>
                </a:solidFill>
              </a:rPr>
              <a:t>Automatisation du traitement et de l'analyse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2060"/>
                </a:solidFill>
              </a:rPr>
              <a:t>des données de ventes e-commerce à l'aide de Python,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2060"/>
                </a:solidFill>
              </a:rPr>
              <a:t>un site web interactif et des outils de visualisation.</a:t>
            </a: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7E0AA163-FF41-F703-A910-A3DA33ADFEB4}"/>
              </a:ext>
            </a:extLst>
          </p:cNvPr>
          <p:cNvSpPr/>
          <p:nvPr/>
        </p:nvSpPr>
        <p:spPr>
          <a:xfrm>
            <a:off x="630936" y="3609975"/>
            <a:ext cx="1444752" cy="292608"/>
          </a:xfrm>
          <a:prstGeom prst="roundRect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ADC0742-91D6-EF0C-2298-409E9B3A3752}"/>
              </a:ext>
            </a:extLst>
          </p:cNvPr>
          <p:cNvSpPr/>
          <p:nvPr/>
        </p:nvSpPr>
        <p:spPr>
          <a:xfrm>
            <a:off x="630936" y="3609975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</a:rPr>
              <a:t>Python</a:t>
            </a: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46EAC069-0306-FEA7-EE01-8A370FB73969}"/>
              </a:ext>
            </a:extLst>
          </p:cNvPr>
          <p:cNvSpPr/>
          <p:nvPr/>
        </p:nvSpPr>
        <p:spPr>
          <a:xfrm>
            <a:off x="2203704" y="3609975"/>
            <a:ext cx="1444752" cy="292608"/>
          </a:xfrm>
          <a:prstGeom prst="roundRect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B53357B-B040-9E9D-B0B1-0B3DE345D3DB}"/>
              </a:ext>
            </a:extLst>
          </p:cNvPr>
          <p:cNvSpPr/>
          <p:nvPr/>
        </p:nvSpPr>
        <p:spPr>
          <a:xfrm>
            <a:off x="2203704" y="3609975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chemeClr val="accent1">
                    <a:lumMod val="75000"/>
                  </a:schemeClr>
                </a:solidFill>
              </a:rPr>
              <a:t>CSV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A4C63E2-D67C-3B77-D605-BF21AFDB976F}"/>
              </a:ext>
            </a:extLst>
          </p:cNvPr>
          <p:cNvSpPr/>
          <p:nvPr/>
        </p:nvSpPr>
        <p:spPr>
          <a:xfrm>
            <a:off x="3794760" y="3609975"/>
            <a:ext cx="1444752" cy="292608"/>
          </a:xfrm>
          <a:prstGeom prst="rect">
            <a:avLst/>
          </a:prstGeom>
          <a:solidFill>
            <a:srgbClr val="B7ECFF"/>
          </a:solidFill>
          <a:ln>
            <a:solidFill>
              <a:srgbClr val="F3D1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</a:rPr>
              <a:t>Matplotlib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FF3E1DE6-B39E-8032-7B36-8F565AF0A8DD}"/>
              </a:ext>
            </a:extLst>
          </p:cNvPr>
          <p:cNvSpPr/>
          <p:nvPr/>
        </p:nvSpPr>
        <p:spPr>
          <a:xfrm>
            <a:off x="5349240" y="3609975"/>
            <a:ext cx="1444752" cy="292608"/>
          </a:xfrm>
          <a:prstGeom prst="roundRect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CDF4A0E-7A04-E170-C82C-C13A01A64BDB}"/>
              </a:ext>
            </a:extLst>
          </p:cNvPr>
          <p:cNvSpPr/>
          <p:nvPr/>
        </p:nvSpPr>
        <p:spPr>
          <a:xfrm>
            <a:off x="5349240" y="3609975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</a:rPr>
              <a:t>HTML/JS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3091232-92E0-30DE-688E-401C9027D9D6}"/>
              </a:ext>
            </a:extLst>
          </p:cNvPr>
          <p:cNvSpPr/>
          <p:nvPr/>
        </p:nvSpPr>
        <p:spPr>
          <a:xfrm>
            <a:off x="6922008" y="3609975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F8BED1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27699A6F-D4F6-F0BE-21C5-7E721FA63E18}"/>
              </a:ext>
            </a:extLst>
          </p:cNvPr>
          <p:cNvSpPr/>
          <p:nvPr/>
        </p:nvSpPr>
        <p:spPr>
          <a:xfrm>
            <a:off x="6922008" y="3609975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</a:rPr>
              <a:t>Git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2"/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AF1A440F-AC7A-7AC9-1181-E499DD34CB52}"/>
              </a:ext>
            </a:extLst>
          </p:cNvPr>
          <p:cNvSpPr/>
          <p:nvPr/>
        </p:nvSpPr>
        <p:spPr>
          <a:xfrm>
            <a:off x="880110" y="954786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 d'Automatisation et </a:t>
            </a: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d'Analyse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Ventes 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1510" y="4461891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github.com/naaaaaaaazz/automatisation-ventes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" y="4053459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HOUAMI Molka 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LOUATI Mariem   •   JAZZAR Emna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36ECDCC-A4CB-AB51-B467-076EA07D3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6" y="3609975"/>
            <a:ext cx="271956" cy="27195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3CDDEA8-599C-4024-4864-2A318F92F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736" y="3601974"/>
            <a:ext cx="345270" cy="34527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0185CDB0-7D6F-8A4F-3F6C-FD4328187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174" y="3579030"/>
            <a:ext cx="345270" cy="34527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BA9E93D6-4785-8456-2BE6-CFD12EA3E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230" y="3586367"/>
            <a:ext cx="316216" cy="316216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88D184AC-FA12-7B24-E284-6374AAFEC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598" y="3631027"/>
            <a:ext cx="316217" cy="31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2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6E552E3E-0EA8-CB0C-D6AF-07AD25A2A720}"/>
              </a:ext>
            </a:extLst>
          </p:cNvPr>
          <p:cNvSpPr txBox="1"/>
          <p:nvPr/>
        </p:nvSpPr>
        <p:spPr>
          <a:xfrm>
            <a:off x="194255" y="574789"/>
            <a:ext cx="8797732" cy="437436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01DEF71-8CCD-55B0-A5B0-503AA27397DE}"/>
              </a:ext>
            </a:extLst>
          </p:cNvPr>
          <p:cNvSpPr/>
          <p:nvPr/>
        </p:nvSpPr>
        <p:spPr>
          <a:xfrm>
            <a:off x="7559567" y="1684075"/>
            <a:ext cx="2466177" cy="322841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40" h="6051">
                <a:moveTo>
                  <a:pt x="0" y="2168"/>
                </a:moveTo>
                <a:lnTo>
                  <a:pt x="0" y="4337"/>
                </a:lnTo>
                <a:cubicBezTo>
                  <a:pt x="0" y="5284"/>
                  <a:pt x="767" y="6051"/>
                  <a:pt x="1715" y="6051"/>
                </a:cubicBezTo>
                <a:cubicBezTo>
                  <a:pt x="2662" y="6051"/>
                  <a:pt x="3430" y="5284"/>
                  <a:pt x="3430" y="4337"/>
                </a:cubicBezTo>
                <a:lnTo>
                  <a:pt x="3430" y="1210"/>
                </a:lnTo>
                <a:cubicBezTo>
                  <a:pt x="3430" y="542"/>
                  <a:pt x="3972" y="0"/>
                  <a:pt x="4640" y="0"/>
                </a:cubicBezTo>
              </a:path>
            </a:pathLst>
          </a:custGeom>
          <a:noFill/>
          <a:ln w="76200" cap="flat">
            <a:solidFill>
              <a:srgbClr val="C8D6EE"/>
            </a:solidFill>
            <a:prstDash val="solid"/>
            <a:round/>
          </a:ln>
        </p:spPr>
        <p:txBody>
          <a:bodyPr vert="horz" wrap="none" lIns="10080" tIns="10080" rIns="10080" bIns="1008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DF475A1-6270-6553-0276-F093B2DDF48E}"/>
              </a:ext>
            </a:extLst>
          </p:cNvPr>
          <p:cNvSpPr/>
          <p:nvPr/>
        </p:nvSpPr>
        <p:spPr>
          <a:xfrm>
            <a:off x="6013652" y="1301800"/>
            <a:ext cx="1293426" cy="129830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34" h="2434">
                <a:moveTo>
                  <a:pt x="2434" y="1217"/>
                </a:moveTo>
                <a:cubicBezTo>
                  <a:pt x="2434" y="1889"/>
                  <a:pt x="1889" y="2434"/>
                  <a:pt x="1217" y="2434"/>
                </a:cubicBezTo>
                <a:cubicBezTo>
                  <a:pt x="544" y="2434"/>
                  <a:pt x="0" y="1889"/>
                  <a:pt x="0" y="1217"/>
                </a:cubicBezTo>
                <a:cubicBezTo>
                  <a:pt x="0" y="545"/>
                  <a:pt x="544" y="0"/>
                  <a:pt x="1217" y="0"/>
                </a:cubicBezTo>
                <a:cubicBezTo>
                  <a:pt x="1889" y="0"/>
                  <a:pt x="2434" y="545"/>
                  <a:pt x="2434" y="1217"/>
                </a:cubicBezTo>
                <a:close/>
              </a:path>
            </a:pathLst>
          </a:custGeom>
          <a:solidFill>
            <a:srgbClr val="FFFF43">
              <a:alpha val="15000"/>
            </a:srgb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AAA744C-9184-4961-698A-DA592165D712}"/>
              </a:ext>
            </a:extLst>
          </p:cNvPr>
          <p:cNvSpPr/>
          <p:nvPr/>
        </p:nvSpPr>
        <p:spPr>
          <a:xfrm>
            <a:off x="5696227" y="788169"/>
            <a:ext cx="1863340" cy="22688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31" h="3884">
                <a:moveTo>
                  <a:pt x="0" y="3884"/>
                </a:moveTo>
                <a:lnTo>
                  <a:pt x="0" y="1716"/>
                </a:lnTo>
                <a:cubicBezTo>
                  <a:pt x="0" y="769"/>
                  <a:pt x="768" y="0"/>
                  <a:pt x="1715" y="0"/>
                </a:cubicBezTo>
                <a:cubicBezTo>
                  <a:pt x="2662" y="0"/>
                  <a:pt x="3431" y="769"/>
                  <a:pt x="3431" y="1716"/>
                </a:cubicBezTo>
                <a:lnTo>
                  <a:pt x="3431" y="3884"/>
                </a:lnTo>
              </a:path>
            </a:pathLst>
          </a:custGeom>
          <a:noFill/>
          <a:ln w="76200" cap="flat">
            <a:solidFill>
              <a:srgbClr val="A1B9E3"/>
            </a:solidFill>
            <a:prstDash val="solid"/>
            <a:round/>
          </a:ln>
        </p:spPr>
        <p:txBody>
          <a:bodyPr vert="horz" wrap="none" lIns="10080" tIns="10080" rIns="10080" bIns="1008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45A40CC-7113-7E03-D254-BF2FC6BC1842}"/>
              </a:ext>
            </a:extLst>
          </p:cNvPr>
          <p:cNvSpPr/>
          <p:nvPr/>
        </p:nvSpPr>
        <p:spPr>
          <a:xfrm>
            <a:off x="4275241" y="3298282"/>
            <a:ext cx="1293426" cy="129883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34" h="2435">
                <a:moveTo>
                  <a:pt x="2434" y="1218"/>
                </a:moveTo>
                <a:cubicBezTo>
                  <a:pt x="2434" y="1890"/>
                  <a:pt x="1889" y="2435"/>
                  <a:pt x="1217" y="2435"/>
                </a:cubicBezTo>
                <a:cubicBezTo>
                  <a:pt x="545" y="2435"/>
                  <a:pt x="0" y="1890"/>
                  <a:pt x="0" y="1218"/>
                </a:cubicBezTo>
                <a:cubicBezTo>
                  <a:pt x="0" y="545"/>
                  <a:pt x="545" y="0"/>
                  <a:pt x="1217" y="0"/>
                </a:cubicBezTo>
                <a:cubicBezTo>
                  <a:pt x="1889" y="0"/>
                  <a:pt x="2434" y="545"/>
                  <a:pt x="2434" y="1218"/>
                </a:cubicBezTo>
                <a:close/>
              </a:path>
            </a:pathLst>
          </a:custGeom>
          <a:solidFill>
            <a:srgbClr val="FFFF43">
              <a:alpha val="15000"/>
            </a:srgb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FC58B12-E96B-4E1B-3261-EC001710D041}"/>
              </a:ext>
            </a:extLst>
          </p:cNvPr>
          <p:cNvSpPr/>
          <p:nvPr/>
        </p:nvSpPr>
        <p:spPr>
          <a:xfrm>
            <a:off x="3951207" y="2912737"/>
            <a:ext cx="1745019" cy="207205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31" h="3884">
                <a:moveTo>
                  <a:pt x="3431" y="0"/>
                </a:moveTo>
                <a:lnTo>
                  <a:pt x="3431" y="2169"/>
                </a:lnTo>
                <a:cubicBezTo>
                  <a:pt x="3431" y="3116"/>
                  <a:pt x="2663" y="3884"/>
                  <a:pt x="1716" y="3884"/>
                </a:cubicBezTo>
                <a:cubicBezTo>
                  <a:pt x="769" y="3884"/>
                  <a:pt x="0" y="3116"/>
                  <a:pt x="0" y="2169"/>
                </a:cubicBezTo>
                <a:lnTo>
                  <a:pt x="0" y="0"/>
                </a:lnTo>
              </a:path>
            </a:pathLst>
          </a:custGeom>
          <a:noFill/>
          <a:ln w="76200" cap="flat">
            <a:solidFill>
              <a:srgbClr val="7B9CD7"/>
            </a:solidFill>
            <a:prstDash val="solid"/>
            <a:round/>
          </a:ln>
        </p:spPr>
        <p:txBody>
          <a:bodyPr vert="horz" wrap="none" lIns="10080" tIns="10080" rIns="10080" bIns="1008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3" name="Freeform 432">
            <a:extLst>
              <a:ext uri="{FF2B5EF4-FFF2-40B4-BE49-F238E27FC236}">
                <a16:creationId xmlns:a16="http://schemas.microsoft.com/office/drawing/2014/main" id="{8EB062B6-ACA9-FD9D-8C4E-FCE91F215353}"/>
              </a:ext>
            </a:extLst>
          </p:cNvPr>
          <p:cNvSpPr/>
          <p:nvPr/>
        </p:nvSpPr>
        <p:spPr>
          <a:xfrm>
            <a:off x="2145058" y="869671"/>
            <a:ext cx="1806149" cy="22688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30" h="3884">
                <a:moveTo>
                  <a:pt x="0" y="3884"/>
                </a:moveTo>
                <a:lnTo>
                  <a:pt x="0" y="1716"/>
                </a:lnTo>
                <a:cubicBezTo>
                  <a:pt x="0" y="769"/>
                  <a:pt x="768" y="0"/>
                  <a:pt x="1715" y="0"/>
                </a:cubicBezTo>
                <a:cubicBezTo>
                  <a:pt x="2662" y="0"/>
                  <a:pt x="3430" y="769"/>
                  <a:pt x="3430" y="1716"/>
                </a:cubicBezTo>
                <a:lnTo>
                  <a:pt x="3430" y="3884"/>
                </a:lnTo>
              </a:path>
            </a:pathLst>
          </a:custGeom>
          <a:noFill/>
          <a:ln w="76200" cap="flat">
            <a:solidFill>
              <a:srgbClr val="527DCA"/>
            </a:solidFill>
            <a:prstDash val="solid"/>
            <a:round/>
          </a:ln>
        </p:spPr>
        <p:txBody>
          <a:bodyPr vert="horz" wrap="none" lIns="10080" tIns="10080" rIns="10080" bIns="1008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4" name="Freeform 433">
            <a:extLst>
              <a:ext uri="{FF2B5EF4-FFF2-40B4-BE49-F238E27FC236}">
                <a16:creationId xmlns:a16="http://schemas.microsoft.com/office/drawing/2014/main" id="{F39FA6E2-0FD3-F07E-4ADB-537973E5A5A6}"/>
              </a:ext>
            </a:extLst>
          </p:cNvPr>
          <p:cNvSpPr/>
          <p:nvPr/>
        </p:nvSpPr>
        <p:spPr>
          <a:xfrm>
            <a:off x="2376030" y="1338815"/>
            <a:ext cx="1293426" cy="129883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34" h="2435">
                <a:moveTo>
                  <a:pt x="2434" y="1218"/>
                </a:moveTo>
                <a:cubicBezTo>
                  <a:pt x="2434" y="1890"/>
                  <a:pt x="1889" y="2435"/>
                  <a:pt x="1217" y="2435"/>
                </a:cubicBezTo>
                <a:cubicBezTo>
                  <a:pt x="545" y="2435"/>
                  <a:pt x="0" y="1890"/>
                  <a:pt x="0" y="1218"/>
                </a:cubicBezTo>
                <a:cubicBezTo>
                  <a:pt x="0" y="545"/>
                  <a:pt x="545" y="0"/>
                  <a:pt x="1217" y="0"/>
                </a:cubicBezTo>
                <a:cubicBezTo>
                  <a:pt x="1889" y="0"/>
                  <a:pt x="2434" y="545"/>
                  <a:pt x="2434" y="1218"/>
                </a:cubicBezTo>
                <a:close/>
              </a:path>
            </a:pathLst>
          </a:custGeom>
          <a:solidFill>
            <a:srgbClr val="FFFF43">
              <a:alpha val="15000"/>
            </a:srgb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5" name="Freeform 434">
            <a:extLst>
              <a:ext uri="{FF2B5EF4-FFF2-40B4-BE49-F238E27FC236}">
                <a16:creationId xmlns:a16="http://schemas.microsoft.com/office/drawing/2014/main" id="{841B2155-0336-529B-ECDE-9D6749F4A1E3}"/>
              </a:ext>
            </a:extLst>
          </p:cNvPr>
          <p:cNvSpPr/>
          <p:nvPr/>
        </p:nvSpPr>
        <p:spPr>
          <a:xfrm>
            <a:off x="-118015" y="2079069"/>
            <a:ext cx="2263073" cy="287008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38" h="6051">
                <a:moveTo>
                  <a:pt x="4638" y="2168"/>
                </a:moveTo>
                <a:lnTo>
                  <a:pt x="4638" y="4337"/>
                </a:lnTo>
                <a:cubicBezTo>
                  <a:pt x="4638" y="5284"/>
                  <a:pt x="3870" y="6051"/>
                  <a:pt x="2923" y="6051"/>
                </a:cubicBezTo>
                <a:cubicBezTo>
                  <a:pt x="1975" y="6051"/>
                  <a:pt x="1207" y="5284"/>
                  <a:pt x="1207" y="4337"/>
                </a:cubicBezTo>
                <a:lnTo>
                  <a:pt x="1207" y="2168"/>
                </a:lnTo>
                <a:lnTo>
                  <a:pt x="1207" y="1207"/>
                </a:lnTo>
                <a:cubicBezTo>
                  <a:pt x="1207" y="540"/>
                  <a:pt x="667" y="0"/>
                  <a:pt x="0" y="0"/>
                </a:cubicBezTo>
              </a:path>
            </a:pathLst>
          </a:custGeom>
          <a:noFill/>
          <a:ln w="76200" cap="flat">
            <a:solidFill>
              <a:srgbClr val="2F5597"/>
            </a:solidFill>
            <a:prstDash val="solid"/>
            <a:round/>
          </a:ln>
        </p:spPr>
        <p:txBody>
          <a:bodyPr vert="horz" wrap="none" lIns="10080" tIns="10080" rIns="10080" bIns="10080" anchor="ctr" anchorCtr="1" compatLnSpc="0"/>
          <a:lstStyle/>
          <a:p>
            <a:pPr defTabSz="457200" hangingPunct="0"/>
            <a:endParaRPr lang="fr-FR" sz="900" dirty="0">
              <a:solidFill>
                <a:srgbClr val="2F5597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6" name="Freeform 435">
            <a:extLst>
              <a:ext uri="{FF2B5EF4-FFF2-40B4-BE49-F238E27FC236}">
                <a16:creationId xmlns:a16="http://schemas.microsoft.com/office/drawing/2014/main" id="{364D72A7-1C88-ADF9-F78B-923B37C74E57}"/>
              </a:ext>
            </a:extLst>
          </p:cNvPr>
          <p:cNvSpPr/>
          <p:nvPr/>
        </p:nvSpPr>
        <p:spPr>
          <a:xfrm>
            <a:off x="639312" y="3362074"/>
            <a:ext cx="1293426" cy="129830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34" h="2434">
                <a:moveTo>
                  <a:pt x="2434" y="1217"/>
                </a:moveTo>
                <a:cubicBezTo>
                  <a:pt x="2434" y="1889"/>
                  <a:pt x="1889" y="2434"/>
                  <a:pt x="1217" y="2434"/>
                </a:cubicBezTo>
                <a:cubicBezTo>
                  <a:pt x="545" y="2434"/>
                  <a:pt x="0" y="1889"/>
                  <a:pt x="0" y="1217"/>
                </a:cubicBezTo>
                <a:cubicBezTo>
                  <a:pt x="0" y="545"/>
                  <a:pt x="545" y="0"/>
                  <a:pt x="1217" y="0"/>
                </a:cubicBezTo>
                <a:cubicBezTo>
                  <a:pt x="1889" y="0"/>
                  <a:pt x="2434" y="545"/>
                  <a:pt x="2434" y="1217"/>
                </a:cubicBezTo>
                <a:close/>
              </a:path>
            </a:pathLst>
          </a:custGeom>
          <a:solidFill>
            <a:srgbClr val="FFFF43">
              <a:alpha val="14902"/>
            </a:srgb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D3186-58D2-7B8D-E784-4C3AFDDE3CD6}"/>
              </a:ext>
            </a:extLst>
          </p:cNvPr>
          <p:cNvSpPr txBox="1"/>
          <p:nvPr/>
        </p:nvSpPr>
        <p:spPr>
          <a:xfrm>
            <a:off x="528958" y="2576570"/>
            <a:ext cx="1597088" cy="68505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457200">
              <a:lnSpc>
                <a:spcPts val="24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Contextes &amp; Objets 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2CBD77-5D30-D049-4EBA-84D53C4BEE70}"/>
              </a:ext>
            </a:extLst>
          </p:cNvPr>
          <p:cNvSpPr txBox="1"/>
          <p:nvPr/>
        </p:nvSpPr>
        <p:spPr>
          <a:xfrm>
            <a:off x="2324333" y="2637650"/>
            <a:ext cx="1543410" cy="160838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457200">
              <a:lnSpc>
                <a:spcPts val="2400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Technologies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>
              <a:lnSpc>
                <a:spcPts val="2400"/>
              </a:lnSpc>
            </a:pPr>
            <a:endParaRPr lang="en-US" dirty="0"/>
          </a:p>
          <a:p>
            <a:pPr algn="ctr" defTabSz="457200">
              <a:lnSpc>
                <a:spcPts val="2400"/>
              </a:lnSpc>
            </a:pPr>
            <a:endParaRPr lang="en-US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1E162-02F2-1F58-9BAA-33D8176BB695}"/>
              </a:ext>
            </a:extLst>
          </p:cNvPr>
          <p:cNvSpPr txBox="1"/>
          <p:nvPr/>
        </p:nvSpPr>
        <p:spPr>
          <a:xfrm>
            <a:off x="4025354" y="1516097"/>
            <a:ext cx="1670872" cy="14619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457200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&amp; Fonctionnement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/>
            <a:endParaRPr lang="fr-FR" sz="1700" b="1" spc="-15" dirty="0">
              <a:solidFill>
                <a:srgbClr val="1F497D"/>
              </a:solidFill>
              <a:latin typeface="Poppins" pitchFamily="2" charset="77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CE5F3C-6739-87A5-0183-B395952633A0}"/>
              </a:ext>
            </a:extLst>
          </p:cNvPr>
          <p:cNvSpPr txBox="1"/>
          <p:nvPr/>
        </p:nvSpPr>
        <p:spPr>
          <a:xfrm>
            <a:off x="7528970" y="1853405"/>
            <a:ext cx="1420776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457200"/>
            <a:r>
              <a:rPr lang="fr-FR" spc="-15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Perspectives</a:t>
            </a:r>
            <a:endParaRPr lang="fr-FR" spc="-15" dirty="0">
              <a:solidFill>
                <a:prstClr val="black">
                  <a:lumMod val="95000"/>
                  <a:lumOff val="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s 12">
            <a:extLst>
              <a:ext uri="{FF2B5EF4-FFF2-40B4-BE49-F238E27FC236}">
                <a16:creationId xmlns:a16="http://schemas.microsoft.com/office/drawing/2014/main" id="{DD4C359A-3F0B-6314-BF59-306F7B8EA63E}"/>
              </a:ext>
            </a:extLst>
          </p:cNvPr>
          <p:cNvSpPr/>
          <p:nvPr/>
        </p:nvSpPr>
        <p:spPr>
          <a:xfrm>
            <a:off x="2522770" y="-126867"/>
            <a:ext cx="3664723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 defTabSz="457223"/>
            <a:r>
              <a:rPr lang="fr-FR" altLang="en-US" sz="4500" b="1" dirty="0">
                <a:solidFill>
                  <a:srgbClr val="2F559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Sommaire</a:t>
            </a:r>
            <a:endParaRPr lang="fr-FR" altLang="en-US" sz="4500" b="1" dirty="0">
              <a:ln w="9525">
                <a:solidFill>
                  <a:prstClr val="white"/>
                </a:solidFill>
                <a:prstDash val="solid"/>
              </a:ln>
              <a:solidFill>
                <a:srgbClr val="2F5597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79C960-901A-4854-5906-B424C6317B3B}"/>
              </a:ext>
            </a:extLst>
          </p:cNvPr>
          <p:cNvSpPr txBox="1"/>
          <p:nvPr/>
        </p:nvSpPr>
        <p:spPr>
          <a:xfrm>
            <a:off x="5560469" y="2780872"/>
            <a:ext cx="2057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&amp; Visualisation </a:t>
            </a:r>
          </a:p>
        </p:txBody>
      </p:sp>
      <p:sp>
        <p:nvSpPr>
          <p:cNvPr id="9" name="Freeform 433">
            <a:extLst>
              <a:ext uri="{FF2B5EF4-FFF2-40B4-BE49-F238E27FC236}">
                <a16:creationId xmlns:a16="http://schemas.microsoft.com/office/drawing/2014/main" id="{692FEC86-DFAB-7A2A-4E19-DEDA9BBF7D22}"/>
              </a:ext>
            </a:extLst>
          </p:cNvPr>
          <p:cNvSpPr/>
          <p:nvPr/>
        </p:nvSpPr>
        <p:spPr>
          <a:xfrm>
            <a:off x="7696422" y="3227803"/>
            <a:ext cx="1293426" cy="129883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34" h="2435">
                <a:moveTo>
                  <a:pt x="2434" y="1218"/>
                </a:moveTo>
                <a:cubicBezTo>
                  <a:pt x="2434" y="1890"/>
                  <a:pt x="1889" y="2435"/>
                  <a:pt x="1217" y="2435"/>
                </a:cubicBezTo>
                <a:cubicBezTo>
                  <a:pt x="545" y="2435"/>
                  <a:pt x="0" y="1890"/>
                  <a:pt x="0" y="1218"/>
                </a:cubicBezTo>
                <a:cubicBezTo>
                  <a:pt x="0" y="545"/>
                  <a:pt x="545" y="0"/>
                  <a:pt x="1217" y="0"/>
                </a:cubicBezTo>
                <a:cubicBezTo>
                  <a:pt x="1889" y="0"/>
                  <a:pt x="2434" y="545"/>
                  <a:pt x="2434" y="1218"/>
                </a:cubicBezTo>
                <a:close/>
              </a:path>
            </a:pathLst>
          </a:custGeom>
          <a:solidFill>
            <a:srgbClr val="FFFF43">
              <a:alpha val="15000"/>
            </a:srgb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457200" hangingPunct="0"/>
            <a:endParaRPr lang="fr-FR" sz="900" dirty="0">
              <a:solidFill>
                <a:prstClr val="black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0B41B8B-2F6F-1E6A-B238-B5119FD6F717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560DA14-D413-E823-D3F4-22BB283C7971}"/>
              </a:ext>
            </a:extLst>
          </p:cNvPr>
          <p:cNvSpPr/>
          <p:nvPr/>
        </p:nvSpPr>
        <p:spPr>
          <a:xfrm>
            <a:off x="7159172" y="4002750"/>
            <a:ext cx="4572000" cy="45720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 w="12700">
            <a:solidFill>
              <a:schemeClr val="accent1">
                <a:lumMod val="75000"/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6857E9B-1236-90F8-E0C3-DCD801C8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17" y="3657408"/>
            <a:ext cx="700509" cy="70050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867017E-EA17-A8B6-4FD6-300349DB9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433" y="1628451"/>
            <a:ext cx="764111" cy="76411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7280463-674A-E779-7318-DAF592F9C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04" y="3626353"/>
            <a:ext cx="690254" cy="690254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60210CCE-3286-0B78-B668-EEF15D845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678" y="1610958"/>
            <a:ext cx="745161" cy="745161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2DDD2D2C-1B18-C14C-66F0-24F8F2015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624" y="3514113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0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433" grpId="0" animBg="1"/>
      <p:bldP spid="434" grpId="0" animBg="1"/>
      <p:bldP spid="435" grpId="0" animBg="1"/>
      <p:bldP spid="436" grpId="0" animBg="1"/>
      <p:bldP spid="19" grpId="0"/>
      <p:bldP spid="21" grpId="0"/>
      <p:bldP spid="25" grpId="0"/>
      <p:bldP spid="27" grpId="0"/>
      <p:bldP spid="3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">
            <a:extLst>
              <a:ext uri="{FF2B5EF4-FFF2-40B4-BE49-F238E27FC236}">
                <a16:creationId xmlns:a16="http://schemas.microsoft.com/office/drawing/2014/main" id="{1DF7A142-83FD-5288-E660-92BB5B3377C9}"/>
              </a:ext>
            </a:extLst>
          </p:cNvPr>
          <p:cNvSpPr/>
          <p:nvPr/>
        </p:nvSpPr>
        <p:spPr>
          <a:xfrm>
            <a:off x="7498080" y="3442716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AF3DE624-9AB3-2C67-DDAC-3A969ECFB31A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8E099CC-F591-B5FE-2681-D4F4E00FF177}"/>
              </a:ext>
            </a:extLst>
          </p:cNvPr>
          <p:cNvSpPr txBox="1"/>
          <p:nvPr/>
        </p:nvSpPr>
        <p:spPr>
          <a:xfrm>
            <a:off x="148728" y="667071"/>
            <a:ext cx="8846544" cy="40425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BA4BA6B5-A603-9B51-E797-FF54909F156F}"/>
              </a:ext>
            </a:extLst>
          </p:cNvPr>
          <p:cNvSpPr/>
          <p:nvPr/>
        </p:nvSpPr>
        <p:spPr>
          <a:xfrm>
            <a:off x="365760" y="1207008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350783DA-AD7F-C875-3C53-AF5675922095}"/>
              </a:ext>
            </a:extLst>
          </p:cNvPr>
          <p:cNvSpPr/>
          <p:nvPr/>
        </p:nvSpPr>
        <p:spPr>
          <a:xfrm>
            <a:off x="365760" y="1773936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70EE863D-42A5-7A9C-1F82-49842DBAA379}"/>
              </a:ext>
            </a:extLst>
          </p:cNvPr>
          <p:cNvSpPr/>
          <p:nvPr/>
        </p:nvSpPr>
        <p:spPr>
          <a:xfrm>
            <a:off x="365760" y="2340864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AFCEA3CA-A50B-A001-6102-227F5C15332E}"/>
              </a:ext>
            </a:extLst>
          </p:cNvPr>
          <p:cNvSpPr/>
          <p:nvPr/>
        </p:nvSpPr>
        <p:spPr>
          <a:xfrm>
            <a:off x="365760" y="2907792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9602E669-6F8A-FDAA-8B6E-ADC5490EB15E}"/>
              </a:ext>
            </a:extLst>
          </p:cNvPr>
          <p:cNvSpPr/>
          <p:nvPr/>
        </p:nvSpPr>
        <p:spPr>
          <a:xfrm>
            <a:off x="365760" y="3474720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DDE97A65-5035-644F-66B2-F410BE1BD062}"/>
              </a:ext>
            </a:extLst>
          </p:cNvPr>
          <p:cNvSpPr/>
          <p:nvPr/>
        </p:nvSpPr>
        <p:spPr>
          <a:xfrm>
            <a:off x="365760" y="4041648"/>
            <a:ext cx="4023360" cy="4754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130E7E93-4A6E-C28C-0998-A43F3481840E}"/>
              </a:ext>
            </a:extLst>
          </p:cNvPr>
          <p:cNvSpPr/>
          <p:nvPr/>
        </p:nvSpPr>
        <p:spPr>
          <a:xfrm>
            <a:off x="36576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PROBLÈMES</a:t>
            </a:r>
            <a:endParaRPr lang="en-US" sz="1200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1C60E1A-2702-7371-2717-4155A2AAB9E9}"/>
              </a:ext>
            </a:extLst>
          </p:cNvPr>
          <p:cNvSpPr/>
          <p:nvPr/>
        </p:nvSpPr>
        <p:spPr>
          <a:xfrm>
            <a:off x="502920" y="1252728"/>
            <a:ext cx="374904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</a:t>
            </a:r>
            <a:r>
              <a:rPr lang="en-US" sz="1100" b="1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 de données e-commerce</a:t>
            </a:r>
            <a:endParaRPr lang="en-US" sz="1100" b="1" dirty="0">
              <a:solidFill>
                <a:srgbClr val="2F5597"/>
              </a:solidFill>
            </a:endParaRPr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ADF7C279-4CB7-293F-4D79-8274A6A19C67}"/>
              </a:ext>
            </a:extLst>
          </p:cNvPr>
          <p:cNvSpPr/>
          <p:nvPr/>
        </p:nvSpPr>
        <p:spPr>
          <a:xfrm>
            <a:off x="502920" y="1860804"/>
            <a:ext cx="3749040" cy="3017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erreurs &amp; lenteur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8D377A20-C749-8BBD-C194-FC8258FBC0A8}"/>
              </a:ext>
            </a:extLst>
          </p:cNvPr>
          <p:cNvSpPr/>
          <p:nvPr/>
        </p:nvSpPr>
        <p:spPr>
          <a:xfrm>
            <a:off x="489204" y="2423160"/>
            <a:ext cx="3749040" cy="3474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 Des heures perdues chaque semaine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10387CBD-462D-5CC4-2E92-AF6F318B58FA}"/>
              </a:ext>
            </a:extLst>
          </p:cNvPr>
          <p:cNvSpPr/>
          <p:nvPr/>
        </p:nvSpPr>
        <p:spPr>
          <a:xfrm>
            <a:off x="489204" y="2944368"/>
            <a:ext cx="374904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Pas de visualisation automatique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852E3BE8-9455-D1B9-1EB6-96193EFB0668}"/>
              </a:ext>
            </a:extLst>
          </p:cNvPr>
          <p:cNvSpPr/>
          <p:nvPr/>
        </p:nvSpPr>
        <p:spPr>
          <a:xfrm>
            <a:off x="502920" y="3525012"/>
            <a:ext cx="3749040" cy="33832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📤  Pas d'export structuré des résultats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2A486301-F3D4-FCF5-6915-DB99A7413D05}"/>
              </a:ext>
            </a:extLst>
          </p:cNvPr>
          <p:cNvSpPr/>
          <p:nvPr/>
        </p:nvSpPr>
        <p:spPr>
          <a:xfrm>
            <a:off x="489204" y="4177665"/>
            <a:ext cx="3749040" cy="2331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Prise de décision difficile &amp; risquée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8B326321-F9F6-C588-3C07-5530EAF6B8EA}"/>
              </a:ext>
            </a:extLst>
          </p:cNvPr>
          <p:cNvSpPr/>
          <p:nvPr/>
        </p:nvSpPr>
        <p:spPr>
          <a:xfrm>
            <a:off x="475488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SOLUTIONS</a:t>
            </a:r>
            <a:endParaRPr lang="en-US" sz="1200" dirty="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2916B5B4-146F-94F8-31D5-E6022CAE34CD}"/>
              </a:ext>
            </a:extLst>
          </p:cNvPr>
          <p:cNvSpPr/>
          <p:nvPr/>
        </p:nvSpPr>
        <p:spPr>
          <a:xfrm>
            <a:off x="4754880" y="1207008"/>
            <a:ext cx="4023360" cy="749808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5FF33E0F-8B60-8379-D2D1-AA6CC79A5E1A}"/>
              </a:ext>
            </a:extLst>
          </p:cNvPr>
          <p:cNvSpPr/>
          <p:nvPr/>
        </p:nvSpPr>
        <p:spPr>
          <a:xfrm>
            <a:off x="5394960" y="1298448"/>
            <a:ext cx="32004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Python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054657ED-CA96-9D2B-90E1-9E2068FCCFE7}"/>
              </a:ext>
            </a:extLst>
          </p:cNvPr>
          <p:cNvSpPr/>
          <p:nvPr/>
        </p:nvSpPr>
        <p:spPr>
          <a:xfrm>
            <a:off x="5394960" y="1591056"/>
            <a:ext cx="3200400" cy="2286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Génération &amp; traitement auto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D7937DF5-1B7F-343C-ADD1-65BA5B87D633}"/>
              </a:ext>
            </a:extLst>
          </p:cNvPr>
          <p:cNvSpPr/>
          <p:nvPr/>
        </p:nvSpPr>
        <p:spPr>
          <a:xfrm>
            <a:off x="4754880" y="2075688"/>
            <a:ext cx="4023360" cy="749808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33">
            <a:extLst>
              <a:ext uri="{FF2B5EF4-FFF2-40B4-BE49-F238E27FC236}">
                <a16:creationId xmlns:a16="http://schemas.microsoft.com/office/drawing/2014/main" id="{FAA2D55A-FA44-837A-06C1-055A6697B73B}"/>
              </a:ext>
            </a:extLst>
          </p:cNvPr>
          <p:cNvSpPr/>
          <p:nvPr/>
        </p:nvSpPr>
        <p:spPr>
          <a:xfrm>
            <a:off x="5394960" y="2167128"/>
            <a:ext cx="32004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Streamlit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07B98B64-E15A-BCD2-DAD7-E4FD49B46342}"/>
              </a:ext>
            </a:extLst>
          </p:cNvPr>
          <p:cNvSpPr/>
          <p:nvPr/>
        </p:nvSpPr>
        <p:spPr>
          <a:xfrm>
            <a:off x="5394960" y="2459736"/>
            <a:ext cx="3200400" cy="2286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web interactive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E57158E2-DBB4-D50C-5D00-1C9F224E4D06}"/>
              </a:ext>
            </a:extLst>
          </p:cNvPr>
          <p:cNvSpPr/>
          <p:nvPr/>
        </p:nvSpPr>
        <p:spPr>
          <a:xfrm>
            <a:off x="4754880" y="2944368"/>
            <a:ext cx="4023360" cy="749808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DE22251B-ACA6-0A99-E50E-DFE294914BBC}"/>
              </a:ext>
            </a:extLst>
          </p:cNvPr>
          <p:cNvSpPr/>
          <p:nvPr/>
        </p:nvSpPr>
        <p:spPr>
          <a:xfrm>
            <a:off x="4855464" y="3095244"/>
            <a:ext cx="292608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0D205BFE-1DB0-8C03-FF72-0BC4AC0AC32E}"/>
              </a:ext>
            </a:extLst>
          </p:cNvPr>
          <p:cNvSpPr/>
          <p:nvPr/>
        </p:nvSpPr>
        <p:spPr>
          <a:xfrm>
            <a:off x="5394960" y="3035808"/>
            <a:ext cx="32004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Web VentePro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3E62E5CC-C3AA-FD42-FC86-EA7F553D3C9D}"/>
              </a:ext>
            </a:extLst>
          </p:cNvPr>
          <p:cNvSpPr/>
          <p:nvPr/>
        </p:nvSpPr>
        <p:spPr>
          <a:xfrm>
            <a:off x="5394960" y="3328416"/>
            <a:ext cx="3200400" cy="2286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HTML sans installation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65D03C3F-A550-362E-0D64-4F4D0122BAC7}"/>
              </a:ext>
            </a:extLst>
          </p:cNvPr>
          <p:cNvSpPr/>
          <p:nvPr/>
        </p:nvSpPr>
        <p:spPr>
          <a:xfrm>
            <a:off x="4754880" y="3813048"/>
            <a:ext cx="4023360" cy="749808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43">
            <a:extLst>
              <a:ext uri="{FF2B5EF4-FFF2-40B4-BE49-F238E27FC236}">
                <a16:creationId xmlns:a16="http://schemas.microsoft.com/office/drawing/2014/main" id="{96581C13-0140-6AA3-CA23-ADDD6C9E8CDF}"/>
              </a:ext>
            </a:extLst>
          </p:cNvPr>
          <p:cNvSpPr/>
          <p:nvPr/>
        </p:nvSpPr>
        <p:spPr>
          <a:xfrm>
            <a:off x="5394960" y="3904488"/>
            <a:ext cx="320040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D0FE44B2-A709-7D32-9618-9188EA9F3DD5}"/>
              </a:ext>
            </a:extLst>
          </p:cNvPr>
          <p:cNvSpPr/>
          <p:nvPr/>
        </p:nvSpPr>
        <p:spPr>
          <a:xfrm>
            <a:off x="5394960" y="4197096"/>
            <a:ext cx="3200400" cy="2286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Graphiques pro automatiques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 2"/>
          <p:cNvSpPr/>
          <p:nvPr/>
        </p:nvSpPr>
        <p:spPr>
          <a:xfrm>
            <a:off x="292608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Contexte &amp; Problématique</a:t>
            </a:r>
            <a:endParaRPr lang="en-US" sz="2200" dirty="0">
              <a:solidFill>
                <a:srgbClr val="2F559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332F5C98-A023-2F0F-E898-63F921104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67078"/>
            <a:ext cx="324612" cy="324612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38279E90-099F-C337-2A18-9B14CD4F3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152311"/>
            <a:ext cx="488414" cy="488414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27EF223C-E867-3D60-9C56-BB9D419F7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3" y="3053912"/>
            <a:ext cx="475855" cy="475855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D4A32BF4-A87A-BE96-9358-96013DE2D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016" y="3966881"/>
            <a:ext cx="460430" cy="4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5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8110728" y="3785616"/>
            <a:ext cx="1828800" cy="1828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22FEAFB2-7645-3428-767B-A2B88331F738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&amp; Stack Technologique</a:t>
            </a:r>
            <a:endParaRPr lang="en-US" sz="2200" dirty="0">
              <a:solidFill>
                <a:srgbClr val="2F559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d'Automatisation et d'Analyse des Ventes  ·  Projet de Fin d'Année  ·  Matière : Logiciels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86868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28600" y="868680"/>
            <a:ext cx="2788920" cy="731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216152" y="1078992"/>
            <a:ext cx="804672" cy="80467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2029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Script Python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0836" y="2546604"/>
            <a:ext cx="54864" cy="164592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fr-FR">
              <a:solidFill>
                <a:srgbClr val="2F5597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vente.py — script principal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9768" y="2944368"/>
            <a:ext cx="54864" cy="164592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random.seed(42) → reproductible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9768" y="3364992"/>
            <a:ext cx="54864" cy="164592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csv — lecture/écriture fichiers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9768" y="3785616"/>
            <a:ext cx="54864" cy="164592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375818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sys.argv — nb lignes configurable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" y="4206240"/>
            <a:ext cx="54864" cy="164592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0936" y="415137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matplotlib — 2 graphiques auto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0" y="86868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0" y="868680"/>
            <a:ext cx="2788920" cy="731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187952" y="1078992"/>
            <a:ext cx="804672" cy="80467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87952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91840" y="2029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C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Streamlit</a:t>
            </a:r>
            <a:endParaRPr lang="en-US" sz="1300" dirty="0">
              <a:solidFill>
                <a:srgbClr val="EF5C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01568" y="2523744"/>
            <a:ext cx="54864" cy="164592"/>
          </a:xfrm>
          <a:prstGeom prst="rect">
            <a:avLst/>
          </a:prstGeom>
          <a:solidFill>
            <a:srgbClr val="EF5C4A"/>
          </a:solidFill>
          <a:ln w="12700">
            <a:solidFill>
              <a:srgbClr val="EF5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520440" y="250545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app.py — app web locale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401568" y="2944368"/>
            <a:ext cx="54864" cy="164592"/>
          </a:xfrm>
          <a:prstGeom prst="rect">
            <a:avLst/>
          </a:prstGeom>
          <a:solidFill>
            <a:srgbClr val="EF5C4A"/>
          </a:solidFill>
          <a:ln w="12700">
            <a:solidFill>
              <a:srgbClr val="EF5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520440" y="292608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 CSV glisser-déposer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401568" y="3364992"/>
            <a:ext cx="54864" cy="164592"/>
          </a:xfrm>
          <a:prstGeom prst="rect">
            <a:avLst/>
          </a:prstGeom>
          <a:solidFill>
            <a:srgbClr val="EF5C4A"/>
          </a:solidFill>
          <a:ln w="12700">
            <a:solidFill>
              <a:srgbClr val="EF5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520440" y="334670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Calculs CA Brut / Net / TVA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01568" y="3785616"/>
            <a:ext cx="54864" cy="164592"/>
          </a:xfrm>
          <a:prstGeom prst="rect">
            <a:avLst/>
          </a:prstGeom>
          <a:solidFill>
            <a:srgbClr val="EF5C4A"/>
          </a:solidFill>
          <a:ln w="12700">
            <a:solidFill>
              <a:srgbClr val="EF5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520440" y="3767328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KPIs + </a:t>
            </a:r>
            <a:r>
              <a:rPr lang="en-US" sz="10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graphique</a:t>
            </a: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automatiques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01568" y="4206240"/>
            <a:ext cx="54864" cy="164592"/>
          </a:xfrm>
          <a:prstGeom prst="rect">
            <a:avLst/>
          </a:prstGeom>
          <a:solidFill>
            <a:srgbClr val="EF5C4A"/>
          </a:solidFill>
          <a:ln w="12700">
            <a:solidFill>
              <a:srgbClr val="EF5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520440" y="4187952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 résultats en CSV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72200" y="86868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172200" y="868680"/>
            <a:ext cx="2788920" cy="731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159752" y="1078992"/>
            <a:ext cx="804672" cy="80467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159752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263640" y="2029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C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Site Web VentePro</a:t>
            </a:r>
            <a:endParaRPr lang="en-US" sz="1300" dirty="0">
              <a:solidFill>
                <a:srgbClr val="48CC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73368" y="2523744"/>
            <a:ext cx="54864" cy="164592"/>
          </a:xfrm>
          <a:prstGeom prst="rect">
            <a:avLst/>
          </a:prstGeom>
          <a:solidFill>
            <a:srgbClr val="48CCF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492240" y="250545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vente.html — navigateur pur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73368" y="2944368"/>
            <a:ext cx="54864" cy="164592"/>
          </a:xfrm>
          <a:prstGeom prst="rect">
            <a:avLst/>
          </a:prstGeom>
          <a:solidFill>
            <a:srgbClr val="48CCF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492240" y="292608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Gestion de caisse complète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73368" y="3364992"/>
            <a:ext cx="54864" cy="164592"/>
          </a:xfrm>
          <a:prstGeom prst="rect">
            <a:avLst/>
          </a:prstGeom>
          <a:solidFill>
            <a:srgbClr val="48CCF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492240" y="334670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Tableau de bord avec KPIs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73368" y="3785616"/>
            <a:ext cx="54864" cy="164592"/>
          </a:xfrm>
          <a:prstGeom prst="rect">
            <a:avLst/>
          </a:prstGeom>
          <a:solidFill>
            <a:srgbClr val="48CCF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492240" y="3767328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Historique des transactions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73368" y="4206240"/>
            <a:ext cx="54864" cy="164592"/>
          </a:xfrm>
          <a:prstGeom prst="rect">
            <a:avLst/>
          </a:prstGeom>
          <a:solidFill>
            <a:srgbClr val="48CCF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492240" y="4187952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 / Export CSV &amp; Excel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907792" y="24688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5870448" y="24688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EB46FCF6-E866-1BEF-2460-542470562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70" y="1265751"/>
            <a:ext cx="446636" cy="424134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2555848B-9FF0-6BDF-0F45-8960D5B63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39" y="1280978"/>
            <a:ext cx="487722" cy="487722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9C7775D6-7740-695B-9E10-38C77AB6E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25" y="1234420"/>
            <a:ext cx="481626" cy="475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2">
            <a:extLst>
              <a:ext uri="{FF2B5EF4-FFF2-40B4-BE49-F238E27FC236}">
                <a16:creationId xmlns:a16="http://schemas.microsoft.com/office/drawing/2014/main" id="{C81D7745-7B0A-854C-A3A4-CA0044784E8B}"/>
              </a:ext>
            </a:extLst>
          </p:cNvPr>
          <p:cNvSpPr/>
          <p:nvPr/>
        </p:nvSpPr>
        <p:spPr>
          <a:xfrm>
            <a:off x="7589520" y="3255264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724C8567-7B15-4C95-6553-BD2517CEEB0B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Script Python — vente.py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09560" y="155448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d'Automatisation et d'Analyse des Ventes  ·  Projet de Fin d'Année  ·  Matière : Logiciels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914400"/>
            <a:ext cx="54406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28600" y="914400"/>
            <a:ext cx="64008" cy="6492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033272"/>
            <a:ext cx="402336" cy="402336"/>
          </a:xfrm>
          <a:prstGeom prst="ellipse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033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960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CSV aléatoire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234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random.seed(42) → ventes.csv | nb lignes via sys.argv (défaut : 15)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655064"/>
            <a:ext cx="54406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8600" y="1655064"/>
            <a:ext cx="64008" cy="6492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1773936"/>
            <a:ext cx="402336" cy="40233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1700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financiers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19751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Brut = Prix × Qté  |  CA Net = CA Brut × (1 – Remise/100)  |  TVA = CA Net × 0.20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395728"/>
            <a:ext cx="54406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28600" y="2395728"/>
            <a:ext cx="64008" cy="6492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402336" cy="402336"/>
          </a:xfrm>
          <a:prstGeom prst="ellipse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8680" y="2441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produit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715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sur tous les CA Net → identification du maximum → Produit 114 : 2 201,03 €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136392"/>
            <a:ext cx="54406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28600" y="3136392"/>
            <a:ext cx="64008" cy="6492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65760" y="3255264"/>
            <a:ext cx="402336" cy="402336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Matplotlib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456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graph_barres.png (CA Net par produit) + graph_cercle.png (répartition en %)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877056"/>
            <a:ext cx="54406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228600" y="3877056"/>
            <a:ext cx="64008" cy="6492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995928"/>
            <a:ext cx="402336" cy="402336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6576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68680" y="39227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resultats_final.csv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1970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; Prix ; Quantite ; Remise ; CA_Brut ; CA_Net ; TVA — séparateur ;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914400"/>
            <a:ext cx="301752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852160" y="914400"/>
            <a:ext cx="30175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98932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8932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vente.py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893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vente.py 30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893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30 lignes générées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89320" y="21214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resultats_final.csv généré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89320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📌  Produit le + rentable : 114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52160" y="2788920"/>
            <a:ext cx="3017520" cy="1874520"/>
          </a:xfrm>
          <a:prstGeom prst="rect">
            <a:avLst/>
          </a:prstGeom>
          <a:solidFill>
            <a:srgbClr val="F8F9FF"/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98932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Fichiers générés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035040" y="32735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ventes.csv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035040" y="357530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resultats_final.csv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035040" y="38770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graph_barres.png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035040" y="4178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graph_cercle.png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C1AB1ACB-B0A6-B68D-633C-8F1312102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155" y="3347049"/>
            <a:ext cx="182650" cy="182650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453A9BDB-701B-2F1B-8D74-7D04B7522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155" y="3634855"/>
            <a:ext cx="182650" cy="182650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65A59094-10F1-8CE5-4E39-007737AB3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383" y="3918319"/>
            <a:ext cx="182650" cy="182650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D6002DEB-7EF8-D508-2E01-E31EC7BD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383" y="4215614"/>
            <a:ext cx="182650" cy="182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">
            <a:extLst>
              <a:ext uri="{FF2B5EF4-FFF2-40B4-BE49-F238E27FC236}">
                <a16:creationId xmlns:a16="http://schemas.microsoft.com/office/drawing/2014/main" id="{AB19B427-7DD6-BEB4-6533-B8667C27B311}"/>
              </a:ext>
            </a:extLst>
          </p:cNvPr>
          <p:cNvSpPr/>
          <p:nvPr/>
        </p:nvSpPr>
        <p:spPr>
          <a:xfrm>
            <a:off x="7260336" y="2926080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1CE2B9DD-F12B-9006-7AA5-117E5720EA78}"/>
              </a:ext>
            </a:extLst>
          </p:cNvPr>
          <p:cNvSpPr/>
          <p:nvPr/>
        </p:nvSpPr>
        <p:spPr>
          <a:xfrm>
            <a:off x="-1170432" y="-1143000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484633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Streamlit — app.py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0312" y="850392"/>
            <a:ext cx="2048256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0" descr="/home/claude/apercu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" y="59904"/>
            <a:ext cx="2679193" cy="5023691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2825496" y="969264"/>
            <a:ext cx="27706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2882646" y="1071005"/>
            <a:ext cx="384048" cy="384048"/>
          </a:xfrm>
          <a:prstGeom prst="ellipse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908935" y="10501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374136" y="1119149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990088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le fichier CSV dans l'interface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88920" y="2097558"/>
            <a:ext cx="2770632" cy="9656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2871216" y="2228712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871216" y="2217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328416" y="2324339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interactif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990088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source + résultats CA Brut / Net / TVA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55869" y="3407984"/>
            <a:ext cx="2770632" cy="897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2755869" y="3380551"/>
            <a:ext cx="2770632" cy="4571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2822990" y="3463483"/>
            <a:ext cx="384048" cy="384048"/>
          </a:xfrm>
          <a:prstGeom prst="ellipse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833152" y="34634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254520" y="3508211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CA Net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990088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en barres par ID produit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897880" y="896112"/>
            <a:ext cx="2971800" cy="9435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5897880" y="896112"/>
            <a:ext cx="2971800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007608" y="1060704"/>
            <a:ext cx="384048" cy="38404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007608" y="1060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464808" y="1051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automatiques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64808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• Nb produits • Meilleur CA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897880" y="2130552"/>
            <a:ext cx="2971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2788920" y="2086980"/>
            <a:ext cx="2770632" cy="45719"/>
          </a:xfrm>
          <a:prstGeom prst="rect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6007608" y="2295144"/>
            <a:ext cx="384048" cy="38404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6007608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6464808" y="2286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le + rentable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464808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auto : Produit 114 = 2 201 €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897880" y="3407984"/>
            <a:ext cx="2971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2834640" y="941226"/>
            <a:ext cx="2770632" cy="77339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2"/>
          <p:cNvSpPr/>
          <p:nvPr/>
        </p:nvSpPr>
        <p:spPr>
          <a:xfrm>
            <a:off x="6007608" y="3529584"/>
            <a:ext cx="384048" cy="384048"/>
          </a:xfrm>
          <a:prstGeom prst="ellipse">
            <a:avLst/>
          </a:prstGeom>
          <a:solidFill>
            <a:srgbClr val="FFF0F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6007608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6464808" y="3520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6464808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immédiat des résultats calculés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631436" y="4428451"/>
            <a:ext cx="4219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streamlit run app.py   →   http://localhost:8501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E6E84050-342F-04BF-AC04-2894CEE632B1}"/>
              </a:ext>
            </a:extLst>
          </p:cNvPr>
          <p:cNvSpPr/>
          <p:nvPr/>
        </p:nvSpPr>
        <p:spPr>
          <a:xfrm>
            <a:off x="5897880" y="2050404"/>
            <a:ext cx="2971800" cy="73152"/>
          </a:xfrm>
          <a:prstGeom prst="rect">
            <a:avLst/>
          </a:prstGeom>
          <a:solidFill>
            <a:srgbClr val="FB9E5D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71229D29-0AA9-F75A-4871-270126994423}"/>
              </a:ext>
            </a:extLst>
          </p:cNvPr>
          <p:cNvSpPr/>
          <p:nvPr/>
        </p:nvSpPr>
        <p:spPr>
          <a:xfrm>
            <a:off x="5879592" y="3350339"/>
            <a:ext cx="2971800" cy="73152"/>
          </a:xfrm>
          <a:prstGeom prst="rect">
            <a:avLst/>
          </a:prstGeom>
          <a:solidFill>
            <a:srgbClr val="F06EAE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">
            <a:extLst>
              <a:ext uri="{FF2B5EF4-FFF2-40B4-BE49-F238E27FC236}">
                <a16:creationId xmlns:a16="http://schemas.microsoft.com/office/drawing/2014/main" id="{334647AB-FDB6-76AC-39E7-37BB9515A1FD}"/>
              </a:ext>
            </a:extLst>
          </p:cNvPr>
          <p:cNvSpPr/>
          <p:nvPr/>
        </p:nvSpPr>
        <p:spPr>
          <a:xfrm>
            <a:off x="7424928" y="3026664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0BB35BC-1E30-59BB-27DB-696C8510D90C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apercu-web.png">
            <a:extLst>
              <a:ext uri="{FF2B5EF4-FFF2-40B4-BE49-F238E27FC236}">
                <a16:creationId xmlns:a16="http://schemas.microsoft.com/office/drawing/2014/main" id="{37FD0A2C-A821-1CB0-C3B3-684F47ED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37281"/>
            <a:ext cx="3904488" cy="3955055"/>
          </a:xfrm>
          <a:prstGeom prst="rect">
            <a:avLst/>
          </a:prstGeom>
        </p:spPr>
      </p:pic>
      <p:sp>
        <p:nvSpPr>
          <p:cNvPr id="5" name="Text 10">
            <a:extLst>
              <a:ext uri="{FF2B5EF4-FFF2-40B4-BE49-F238E27FC236}">
                <a16:creationId xmlns:a16="http://schemas.microsoft.com/office/drawing/2014/main" id="{0DB63F30-CE8C-A176-946E-7113116E619F}"/>
              </a:ext>
            </a:extLst>
          </p:cNvPr>
          <p:cNvSpPr/>
          <p:nvPr/>
        </p:nvSpPr>
        <p:spPr>
          <a:xfrm>
            <a:off x="210312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web complète, sans installation.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EDCE3C46-B5D8-9B8A-5512-D77AA1CC4C29}"/>
              </a:ext>
            </a:extLst>
          </p:cNvPr>
          <p:cNvSpPr/>
          <p:nvPr/>
        </p:nvSpPr>
        <p:spPr>
          <a:xfrm>
            <a:off x="210312" y="1417320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9022597B-E851-B0E3-5E80-084818A1DD89}"/>
              </a:ext>
            </a:extLst>
          </p:cNvPr>
          <p:cNvSpPr/>
          <p:nvPr/>
        </p:nvSpPr>
        <p:spPr>
          <a:xfrm>
            <a:off x="210312" y="1417320"/>
            <a:ext cx="64008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E7A6A575-A264-5721-020C-8D96EE0B9845}"/>
              </a:ext>
            </a:extLst>
          </p:cNvPr>
          <p:cNvSpPr/>
          <p:nvPr/>
        </p:nvSpPr>
        <p:spPr>
          <a:xfrm>
            <a:off x="34747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🛒</a:t>
            </a:r>
            <a:endParaRPr lang="en-US" sz="17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EB49137A-42F4-64B3-E279-5B4FE9F90C49}"/>
              </a:ext>
            </a:extLst>
          </p:cNvPr>
          <p:cNvSpPr/>
          <p:nvPr/>
        </p:nvSpPr>
        <p:spPr>
          <a:xfrm>
            <a:off x="804672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caisse</a:t>
            </a:r>
            <a:endParaRPr lang="en-US" sz="12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0A2A0467-AF7E-A512-AC4F-30303F56E341}"/>
              </a:ext>
            </a:extLst>
          </p:cNvPr>
          <p:cNvSpPr/>
          <p:nvPr/>
        </p:nvSpPr>
        <p:spPr>
          <a:xfrm>
            <a:off x="804672" y="1801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produits, remises, tickets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4BBC1A95-B2F1-001A-19A6-8FB3C0627925}"/>
              </a:ext>
            </a:extLst>
          </p:cNvPr>
          <p:cNvSpPr/>
          <p:nvPr/>
        </p:nvSpPr>
        <p:spPr>
          <a:xfrm>
            <a:off x="210312" y="2221992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C1509AAD-6015-1612-5102-CED1B1CBD5FA}"/>
              </a:ext>
            </a:extLst>
          </p:cNvPr>
          <p:cNvSpPr/>
          <p:nvPr/>
        </p:nvSpPr>
        <p:spPr>
          <a:xfrm>
            <a:off x="210312" y="2221992"/>
            <a:ext cx="64008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C4DA8CF1-137E-C0B6-3C2C-534C79AFA185}"/>
              </a:ext>
            </a:extLst>
          </p:cNvPr>
          <p:cNvSpPr/>
          <p:nvPr/>
        </p:nvSpPr>
        <p:spPr>
          <a:xfrm>
            <a:off x="347472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FA3B12C4-1D13-9065-8AD6-0706660F59D9}"/>
              </a:ext>
            </a:extLst>
          </p:cNvPr>
          <p:cNvSpPr/>
          <p:nvPr/>
        </p:nvSpPr>
        <p:spPr>
          <a:xfrm>
            <a:off x="80467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KPI</a:t>
            </a:r>
            <a:endParaRPr lang="en-US" sz="120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0B0685D4-18F6-5D36-B354-1D014457DA60}"/>
              </a:ext>
            </a:extLst>
          </p:cNvPr>
          <p:cNvSpPr/>
          <p:nvPr/>
        </p:nvSpPr>
        <p:spPr>
          <a:xfrm>
            <a:off x="804672" y="2606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&amp; graphiques live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2007A5ED-5F19-3CAF-2436-43880A1B598D}"/>
              </a:ext>
            </a:extLst>
          </p:cNvPr>
          <p:cNvSpPr/>
          <p:nvPr/>
        </p:nvSpPr>
        <p:spPr>
          <a:xfrm>
            <a:off x="210312" y="3026664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6664C432-5AFD-4F9C-2771-AD8F274972F9}"/>
              </a:ext>
            </a:extLst>
          </p:cNvPr>
          <p:cNvSpPr/>
          <p:nvPr/>
        </p:nvSpPr>
        <p:spPr>
          <a:xfrm>
            <a:off x="210312" y="3026664"/>
            <a:ext cx="64008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0FF7F38B-E1A5-D987-892D-A69DC8D6AAF1}"/>
              </a:ext>
            </a:extLst>
          </p:cNvPr>
          <p:cNvSpPr/>
          <p:nvPr/>
        </p:nvSpPr>
        <p:spPr>
          <a:xfrm>
            <a:off x="347472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📜</a:t>
            </a:r>
            <a:endParaRPr lang="en-US" sz="1700" dirty="0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E0C3C512-005E-F5F1-5DDE-9E009A026B68}"/>
              </a:ext>
            </a:extLst>
          </p:cNvPr>
          <p:cNvSpPr/>
          <p:nvPr/>
        </p:nvSpPr>
        <p:spPr>
          <a:xfrm>
            <a:off x="804672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ventes</a:t>
            </a:r>
            <a:endParaRPr lang="en-US" sz="1200" dirty="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364D041E-7A0E-110A-AA77-09CEFA029CC7}"/>
              </a:ext>
            </a:extLst>
          </p:cNvPr>
          <p:cNvSpPr/>
          <p:nvPr/>
        </p:nvSpPr>
        <p:spPr>
          <a:xfrm>
            <a:off x="804672" y="3410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complet des transactions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32C850A2-2714-1305-DC2C-DC6C15244F0C}"/>
              </a:ext>
            </a:extLst>
          </p:cNvPr>
          <p:cNvSpPr/>
          <p:nvPr/>
        </p:nvSpPr>
        <p:spPr>
          <a:xfrm>
            <a:off x="210312" y="3831336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30">
            <a:extLst>
              <a:ext uri="{FF2B5EF4-FFF2-40B4-BE49-F238E27FC236}">
                <a16:creationId xmlns:a16="http://schemas.microsoft.com/office/drawing/2014/main" id="{26D7C2C9-D1A9-9A47-A0B6-DE4AB1A3F580}"/>
              </a:ext>
            </a:extLst>
          </p:cNvPr>
          <p:cNvSpPr/>
          <p:nvPr/>
        </p:nvSpPr>
        <p:spPr>
          <a:xfrm>
            <a:off x="210312" y="3831336"/>
            <a:ext cx="64008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A7B0A8F5-AD43-B0E6-39FF-85402DFE347F}"/>
              </a:ext>
            </a:extLst>
          </p:cNvPr>
          <p:cNvSpPr/>
          <p:nvPr/>
        </p:nvSpPr>
        <p:spPr>
          <a:xfrm>
            <a:off x="3474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📁</a:t>
            </a:r>
            <a:endParaRPr lang="en-US" sz="1700" dirty="0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85A45480-F5D9-AE35-0C11-B672DBDC5E33}"/>
              </a:ext>
            </a:extLst>
          </p:cNvPr>
          <p:cNvSpPr/>
          <p:nvPr/>
        </p:nvSpPr>
        <p:spPr>
          <a:xfrm>
            <a:off x="804672" y="3941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200" dirty="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EDD45728-FCC3-5DDD-643F-BF130D6F2B8F}"/>
              </a:ext>
            </a:extLst>
          </p:cNvPr>
          <p:cNvSpPr/>
          <p:nvPr/>
        </p:nvSpPr>
        <p:spPr>
          <a:xfrm>
            <a:off x="804672" y="4215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et Excel en 1 clic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371B26C-E347-F0A4-F865-0E7C5B7BCCFE}"/>
              </a:ext>
            </a:extLst>
          </p:cNvPr>
          <p:cNvSpPr txBox="1"/>
          <p:nvPr/>
        </p:nvSpPr>
        <p:spPr>
          <a:xfrm>
            <a:off x="195453" y="187202"/>
            <a:ext cx="77960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Site Web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VentePro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 — vente.html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53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">
            <a:extLst>
              <a:ext uri="{FF2B5EF4-FFF2-40B4-BE49-F238E27FC236}">
                <a16:creationId xmlns:a16="http://schemas.microsoft.com/office/drawing/2014/main" id="{C71C051F-8458-DED5-4346-2264ADD8EC8F}"/>
              </a:ext>
            </a:extLst>
          </p:cNvPr>
          <p:cNvSpPr/>
          <p:nvPr/>
        </p:nvSpPr>
        <p:spPr>
          <a:xfrm>
            <a:off x="7772400" y="3616011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A3268D80-5D5D-883C-60EC-3CBCBAA17EF4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13911627-B2CF-67F8-54FA-0278295FEC09}"/>
              </a:ext>
            </a:extLst>
          </p:cNvPr>
          <p:cNvSpPr/>
          <p:nvPr/>
        </p:nvSpPr>
        <p:spPr>
          <a:xfrm>
            <a:off x="228600" y="868680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1BC74F0B-54EF-A89F-C352-7136FFF665D0}"/>
              </a:ext>
            </a:extLst>
          </p:cNvPr>
          <p:cNvSpPr/>
          <p:nvPr/>
        </p:nvSpPr>
        <p:spPr>
          <a:xfrm>
            <a:off x="32004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5993E428-B81B-0420-CE05-41090761E9BB}"/>
              </a:ext>
            </a:extLst>
          </p:cNvPr>
          <p:cNvSpPr/>
          <p:nvPr/>
        </p:nvSpPr>
        <p:spPr>
          <a:xfrm>
            <a:off x="777240" y="960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3A1A3C0F-99C0-A655-3BFF-73C187B3F2CB}"/>
              </a:ext>
            </a:extLst>
          </p:cNvPr>
          <p:cNvSpPr/>
          <p:nvPr/>
        </p:nvSpPr>
        <p:spPr>
          <a:xfrm>
            <a:off x="32004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analysés</a:t>
            </a:r>
            <a:endParaRPr lang="en-US" sz="100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A1E3DC31-6E94-9BA7-DB9D-B6B94C917C40}"/>
              </a:ext>
            </a:extLst>
          </p:cNvPr>
          <p:cNvSpPr/>
          <p:nvPr/>
        </p:nvSpPr>
        <p:spPr>
          <a:xfrm>
            <a:off x="2441448" y="868680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270E3F11-4FB8-3174-2BE7-B24ABF3AA43E}"/>
              </a:ext>
            </a:extLst>
          </p:cNvPr>
          <p:cNvSpPr/>
          <p:nvPr/>
        </p:nvSpPr>
        <p:spPr>
          <a:xfrm>
            <a:off x="2990088" y="960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8 653 €</a:t>
            </a:r>
            <a:endParaRPr lang="en-US" sz="1900" dirty="0">
              <a:solidFill>
                <a:srgbClr val="00B050"/>
              </a:solidFill>
            </a:endParaRP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4305E216-DD91-80C6-A5BD-C8B500CDC7A6}"/>
              </a:ext>
            </a:extLst>
          </p:cNvPr>
          <p:cNvSpPr/>
          <p:nvPr/>
        </p:nvSpPr>
        <p:spPr>
          <a:xfrm>
            <a:off x="2532888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Net Total</a:t>
            </a:r>
            <a:endParaRPr lang="en-US" sz="1000" dirty="0"/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BDA6B5F7-4DEA-C6BA-73C5-8F10BC6EE9D8}"/>
              </a:ext>
            </a:extLst>
          </p:cNvPr>
          <p:cNvSpPr/>
          <p:nvPr/>
        </p:nvSpPr>
        <p:spPr>
          <a:xfrm>
            <a:off x="4654296" y="868680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AC19EBB8-D861-F001-1303-BB5C94997CA1}"/>
              </a:ext>
            </a:extLst>
          </p:cNvPr>
          <p:cNvSpPr/>
          <p:nvPr/>
        </p:nvSpPr>
        <p:spPr>
          <a:xfrm>
            <a:off x="4745736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🥇</a:t>
            </a:r>
            <a:endParaRPr lang="en-US" sz="1700" dirty="0"/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8CD706B7-3DF2-757E-5488-9C9EC7C5C684}"/>
              </a:ext>
            </a:extLst>
          </p:cNvPr>
          <p:cNvSpPr/>
          <p:nvPr/>
        </p:nvSpPr>
        <p:spPr>
          <a:xfrm>
            <a:off x="5202936" y="960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2 201 €</a:t>
            </a:r>
            <a:endParaRPr lang="en-US" sz="1900" dirty="0">
              <a:solidFill>
                <a:schemeClr val="accent1"/>
              </a:solidFill>
            </a:endParaRP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DBBB3F7B-3374-1875-11DD-8C3E334D09C6}"/>
              </a:ext>
            </a:extLst>
          </p:cNvPr>
          <p:cNvSpPr/>
          <p:nvPr/>
        </p:nvSpPr>
        <p:spPr>
          <a:xfrm>
            <a:off x="4745736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CA Net</a:t>
            </a:r>
            <a:endParaRPr lang="en-US" sz="1000" dirty="0"/>
          </a:p>
        </p:txBody>
      </p:sp>
      <p:sp>
        <p:nvSpPr>
          <p:cNvPr id="20" name="Shape 26">
            <a:extLst>
              <a:ext uri="{FF2B5EF4-FFF2-40B4-BE49-F238E27FC236}">
                <a16:creationId xmlns:a16="http://schemas.microsoft.com/office/drawing/2014/main" id="{2BB052BC-AAB7-82E6-8F57-4A052B881CD4}"/>
              </a:ext>
            </a:extLst>
          </p:cNvPr>
          <p:cNvSpPr/>
          <p:nvPr/>
        </p:nvSpPr>
        <p:spPr>
          <a:xfrm>
            <a:off x="6867144" y="868680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38CC771D-DE81-A4C0-E24C-CBBE7B912BC5}"/>
              </a:ext>
            </a:extLst>
          </p:cNvPr>
          <p:cNvSpPr/>
          <p:nvPr/>
        </p:nvSpPr>
        <p:spPr>
          <a:xfrm>
            <a:off x="6958584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🏆</a:t>
            </a:r>
            <a:endParaRPr lang="en-US" sz="1700" dirty="0"/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EB72218F-AC5A-59F8-B24A-59EA7C5D5C12}"/>
              </a:ext>
            </a:extLst>
          </p:cNvPr>
          <p:cNvSpPr/>
          <p:nvPr/>
        </p:nvSpPr>
        <p:spPr>
          <a:xfrm>
            <a:off x="7415784" y="960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06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114</a:t>
            </a:r>
            <a:endParaRPr lang="en-US" sz="1900" dirty="0">
              <a:solidFill>
                <a:srgbClr val="F06EAE"/>
              </a:solidFill>
            </a:endParaRPr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561076AE-009C-CE09-2239-BF2448A4D3B5}"/>
              </a:ext>
            </a:extLst>
          </p:cNvPr>
          <p:cNvSpPr/>
          <p:nvPr/>
        </p:nvSpPr>
        <p:spPr>
          <a:xfrm>
            <a:off x="6958584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le + rentable</a:t>
            </a:r>
            <a:endParaRPr lang="en-US" sz="1000" dirty="0"/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50930F31-8450-F44B-D695-62314969A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3443340"/>
              </p:ext>
            </p:extLst>
          </p:nvPr>
        </p:nvGraphicFramePr>
        <p:xfrm>
          <a:off x="228600" y="2084832"/>
          <a:ext cx="8686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2" name="Text 23">
            <a:extLst>
              <a:ext uri="{FF2B5EF4-FFF2-40B4-BE49-F238E27FC236}">
                <a16:creationId xmlns:a16="http://schemas.microsoft.com/office/drawing/2014/main" id="{38A49A5E-2832-C539-80AD-8A1E842BB082}"/>
              </a:ext>
            </a:extLst>
          </p:cNvPr>
          <p:cNvSpPr/>
          <p:nvPr/>
        </p:nvSpPr>
        <p:spPr>
          <a:xfrm>
            <a:off x="248208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🥇</a:t>
            </a:r>
            <a:endParaRPr lang="en-US" sz="17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03C5B423-D91D-B601-404B-BAFAD99496C2}"/>
              </a:ext>
            </a:extLst>
          </p:cNvPr>
          <p:cNvSpPr/>
          <p:nvPr/>
        </p:nvSpPr>
        <p:spPr>
          <a:xfrm>
            <a:off x="292608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Résultats &amp; Chiffres Clés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6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18BE8BA6-79B2-10D2-8A89-1DEBDCEF7760}"/>
              </a:ext>
            </a:extLst>
          </p:cNvPr>
          <p:cNvSpPr/>
          <p:nvPr/>
        </p:nvSpPr>
        <p:spPr>
          <a:xfrm>
            <a:off x="7391877" y="3385213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FF97EE33-8E95-7542-C9F5-BAA4BF9F3DD5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Visualisations Graphiques — Matplotlib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" y="8778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Générés automatiquement par le script Python à chaque exécution.</a:t>
            </a:r>
            <a:endParaRPr lang="en-US" sz="1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316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en Barres — CA Net par produit</a:t>
            </a:r>
            <a:endParaRPr lang="en-US" sz="1100" dirty="0">
              <a:solidFill>
                <a:srgbClr val="00B0F0"/>
              </a:solidFill>
            </a:endParaRPr>
          </a:p>
        </p:txBody>
      </p:sp>
      <p:pic>
        <p:nvPicPr>
          <p:cNvPr id="14" name="Image 0" descr="/home/claude/graph_barres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0040" y="1664208"/>
            <a:ext cx="5029200" cy="2743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69280" y="1234440"/>
            <a:ext cx="3246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779008" y="1316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Circulaire — Répartition</a:t>
            </a:r>
            <a:endParaRPr lang="en-US" sz="1100" dirty="0">
              <a:solidFill>
                <a:srgbClr val="00B0F0"/>
              </a:solidFill>
            </a:endParaRPr>
          </a:p>
        </p:txBody>
      </p:sp>
      <p:pic>
        <p:nvPicPr>
          <p:cNvPr id="18" name="Image 1" descr="/home/claude/graph_ce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664208"/>
            <a:ext cx="31089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>
            <a:extLst>
              <a:ext uri="{FF2B5EF4-FFF2-40B4-BE49-F238E27FC236}">
                <a16:creationId xmlns:a16="http://schemas.microsoft.com/office/drawing/2014/main" id="{53D2FBDA-1E6E-1522-099F-B59037A96D1A}"/>
              </a:ext>
            </a:extLst>
          </p:cNvPr>
          <p:cNvSpPr/>
          <p:nvPr/>
        </p:nvSpPr>
        <p:spPr>
          <a:xfrm>
            <a:off x="7772400" y="3747938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3D5E506A-67D2-139E-F9EE-75F9E832FF2F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463040" y="-127947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Démonstration — Aperçu des Interfaces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5074920" cy="40889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28600" y="527350"/>
            <a:ext cx="5074920" cy="457200"/>
          </a:xfrm>
          <a:prstGeom prst="rect">
            <a:avLst/>
          </a:prstGeom>
          <a:solidFill>
            <a:srgbClr val="E8EEF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2044" y="52735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(app.py)</a:t>
            </a:r>
            <a:endParaRPr lang="en-US" sz="1300" dirty="0">
              <a:solidFill>
                <a:srgbClr val="002060"/>
              </a:solidFill>
            </a:endParaRPr>
          </a:p>
        </p:txBody>
      </p:sp>
      <p:pic>
        <p:nvPicPr>
          <p:cNvPr id="13" name="Image 0" descr="/home/claude/apercu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2" y="1033410"/>
            <a:ext cx="4241495" cy="383119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49824" y="868680"/>
            <a:ext cx="3465576" cy="40889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426964" y="548640"/>
            <a:ext cx="34290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641848" y="548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VentePro</a:t>
            </a:r>
            <a:endParaRPr lang="en-US" sz="1300" dirty="0">
              <a:solidFill>
                <a:srgbClr val="002060"/>
              </a:solidFill>
            </a:endParaRPr>
          </a:p>
        </p:txBody>
      </p:sp>
      <p:pic>
        <p:nvPicPr>
          <p:cNvPr id="17" name="Image 1" descr="/home/claude/apercu-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1167788"/>
            <a:ext cx="3282696" cy="3696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">
            <a:extLst>
              <a:ext uri="{FF2B5EF4-FFF2-40B4-BE49-F238E27FC236}">
                <a16:creationId xmlns:a16="http://schemas.microsoft.com/office/drawing/2014/main" id="{BBB9AA94-2434-AC44-D9CE-913078E5FD4F}"/>
              </a:ext>
            </a:extLst>
          </p:cNvPr>
          <p:cNvSpPr/>
          <p:nvPr/>
        </p:nvSpPr>
        <p:spPr>
          <a:xfrm>
            <a:off x="7772400" y="3342132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727328BB-F5D3-DDDD-D549-F163E5C88176}"/>
              </a:ext>
            </a:extLst>
          </p:cNvPr>
          <p:cNvSpPr/>
          <p:nvPr/>
        </p:nvSpPr>
        <p:spPr>
          <a:xfrm>
            <a:off x="-1367028" y="-1234059"/>
            <a:ext cx="2743200" cy="2743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75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B0CED97D-0DCA-C1D3-D045-CB4F35A0B5BA}"/>
              </a:ext>
            </a:extLst>
          </p:cNvPr>
          <p:cNvSpPr/>
          <p:nvPr/>
        </p:nvSpPr>
        <p:spPr>
          <a:xfrm>
            <a:off x="365760" y="914400"/>
            <a:ext cx="4206240" cy="3977640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4A0896C8-0237-6021-D828-4DB65AFB38F3}"/>
              </a:ext>
            </a:extLst>
          </p:cNvPr>
          <p:cNvSpPr/>
          <p:nvPr/>
        </p:nvSpPr>
        <p:spPr>
          <a:xfrm>
            <a:off x="45720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Segoe UI" pitchFamily="34" charset="0"/>
                <a:cs typeface="Segoe UI" pitchFamily="34" charset="-120"/>
              </a:rPr>
              <a:t>Dashboard Streamlit (app.py)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A975D1FA-308B-6005-F13E-2B2F2E144B8A}"/>
              </a:ext>
            </a:extLst>
          </p:cNvPr>
          <p:cNvSpPr/>
          <p:nvPr/>
        </p:nvSpPr>
        <p:spPr>
          <a:xfrm>
            <a:off x="502920" y="1389888"/>
            <a:ext cx="3931920" cy="256032"/>
          </a:xfrm>
          <a:prstGeom prst="rect">
            <a:avLst/>
          </a:prstGeom>
          <a:solidFill>
            <a:schemeClr val="bg1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3D466571-C1F9-8166-14D5-E479A388CD9C}"/>
              </a:ext>
            </a:extLst>
          </p:cNvPr>
          <p:cNvSpPr/>
          <p:nvPr/>
        </p:nvSpPr>
        <p:spPr>
          <a:xfrm>
            <a:off x="50292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Glisser-déposer votre fichier CSV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947684A6-5182-47FA-2D1B-2A8422E08906}"/>
              </a:ext>
            </a:extLst>
          </p:cNvPr>
          <p:cNvSpPr/>
          <p:nvPr/>
        </p:nvSpPr>
        <p:spPr>
          <a:xfrm>
            <a:off x="502920" y="1737360"/>
            <a:ext cx="118872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E7CFDEE4-600E-1032-1B74-B9ACB13832C1}"/>
              </a:ext>
            </a:extLst>
          </p:cNvPr>
          <p:cNvSpPr/>
          <p:nvPr/>
        </p:nvSpPr>
        <p:spPr>
          <a:xfrm>
            <a:off x="502920" y="1783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8 653 €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6F1A0EDE-1A30-8BCB-7FD2-BA21C83874FF}"/>
              </a:ext>
            </a:extLst>
          </p:cNvPr>
          <p:cNvSpPr/>
          <p:nvPr/>
        </p:nvSpPr>
        <p:spPr>
          <a:xfrm>
            <a:off x="50292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CA Total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1BF8DB96-F56F-1359-BFE0-9C2A252CE51C}"/>
              </a:ext>
            </a:extLst>
          </p:cNvPr>
          <p:cNvSpPr/>
          <p:nvPr/>
        </p:nvSpPr>
        <p:spPr>
          <a:xfrm>
            <a:off x="1828800" y="1737360"/>
            <a:ext cx="1188720" cy="685800"/>
          </a:xfrm>
          <a:prstGeom prst="rect">
            <a:avLst/>
          </a:prstGeom>
          <a:solidFill>
            <a:schemeClr val="bg1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E4212B0B-D099-7671-B31C-B7D7D3FEFF4A}"/>
              </a:ext>
            </a:extLst>
          </p:cNvPr>
          <p:cNvSpPr/>
          <p:nvPr/>
        </p:nvSpPr>
        <p:spPr>
          <a:xfrm>
            <a:off x="1828800" y="1783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9AA093E1-8106-7936-034C-A4699304E67B}"/>
              </a:ext>
            </a:extLst>
          </p:cNvPr>
          <p:cNvSpPr/>
          <p:nvPr/>
        </p:nvSpPr>
        <p:spPr>
          <a:xfrm>
            <a:off x="182880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</a:t>
            </a:r>
            <a:endParaRPr lang="en-US" sz="85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D3F6FBD0-59CE-16F5-0DFD-BD7F9393FD43}"/>
              </a:ext>
            </a:extLst>
          </p:cNvPr>
          <p:cNvSpPr/>
          <p:nvPr/>
        </p:nvSpPr>
        <p:spPr>
          <a:xfrm>
            <a:off x="3154680" y="1737360"/>
            <a:ext cx="118872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971E6CFE-9AD3-2310-4096-EA47279421D7}"/>
              </a:ext>
            </a:extLst>
          </p:cNvPr>
          <p:cNvSpPr/>
          <p:nvPr/>
        </p:nvSpPr>
        <p:spPr>
          <a:xfrm>
            <a:off x="3154680" y="1783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2 201 €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7D885641-DD06-55F4-9B04-E2986F453A06}"/>
              </a:ext>
            </a:extLst>
          </p:cNvPr>
          <p:cNvSpPr/>
          <p:nvPr/>
        </p:nvSpPr>
        <p:spPr>
          <a:xfrm>
            <a:off x="315468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Meilleur</a:t>
            </a:r>
            <a:endParaRPr lang="en-US" sz="85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8E8CE811-6020-21F7-8C4C-79EC3D301644}"/>
              </a:ext>
            </a:extLst>
          </p:cNvPr>
          <p:cNvSpPr/>
          <p:nvPr/>
        </p:nvSpPr>
        <p:spPr>
          <a:xfrm>
            <a:off x="502920" y="2560320"/>
            <a:ext cx="3931920" cy="1645920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0807E799-62DA-F6D1-F25A-7900E45B5D68}"/>
              </a:ext>
            </a:extLst>
          </p:cNvPr>
          <p:cNvSpPr/>
          <p:nvPr/>
        </p:nvSpPr>
        <p:spPr>
          <a:xfrm>
            <a:off x="594360" y="3634740"/>
            <a:ext cx="347472" cy="5029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F88BF0D8-052B-5346-C8D0-CDED9E3BD518}"/>
              </a:ext>
            </a:extLst>
          </p:cNvPr>
          <p:cNvSpPr/>
          <p:nvPr/>
        </p:nvSpPr>
        <p:spPr>
          <a:xfrm>
            <a:off x="1051560" y="3332988"/>
            <a:ext cx="347472" cy="804672"/>
          </a:xfrm>
          <a:prstGeom prst="rect">
            <a:avLst/>
          </a:prstGeom>
          <a:solidFill>
            <a:srgbClr val="F9C1B9"/>
          </a:solidFill>
          <a:ln>
            <a:solidFill>
              <a:srgbClr val="F9C1B9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40F5AC35-F106-CAF0-F24D-FB49CF2BE2F0}"/>
              </a:ext>
            </a:extLst>
          </p:cNvPr>
          <p:cNvSpPr/>
          <p:nvPr/>
        </p:nvSpPr>
        <p:spPr>
          <a:xfrm>
            <a:off x="1508760" y="3131820"/>
            <a:ext cx="347472" cy="100584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D46643F6-5F8F-E7E6-2370-10BA35539EFC}"/>
              </a:ext>
            </a:extLst>
          </p:cNvPr>
          <p:cNvSpPr/>
          <p:nvPr/>
        </p:nvSpPr>
        <p:spPr>
          <a:xfrm>
            <a:off x="1965960" y="3534156"/>
            <a:ext cx="347472" cy="603504"/>
          </a:xfrm>
          <a:prstGeom prst="rect">
            <a:avLst/>
          </a:prstGeom>
          <a:solidFill>
            <a:schemeClr val="accent1">
              <a:lumMod val="20000"/>
              <a:lumOff val="80000"/>
              <a:alpha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F7868779-CA29-AC17-010C-48261BC6FD4B}"/>
              </a:ext>
            </a:extLst>
          </p:cNvPr>
          <p:cNvSpPr/>
          <p:nvPr/>
        </p:nvSpPr>
        <p:spPr>
          <a:xfrm>
            <a:off x="2414016" y="2628900"/>
            <a:ext cx="347472" cy="1508760"/>
          </a:xfrm>
          <a:prstGeom prst="rect">
            <a:avLst/>
          </a:prstGeom>
          <a:solidFill>
            <a:srgbClr val="ECA6C1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7D448E99-9F09-CABF-929C-D79DACCE6C9B}"/>
              </a:ext>
            </a:extLst>
          </p:cNvPr>
          <p:cNvSpPr/>
          <p:nvPr/>
        </p:nvSpPr>
        <p:spPr>
          <a:xfrm>
            <a:off x="2880360" y="3735324"/>
            <a:ext cx="347472" cy="402336"/>
          </a:xfrm>
          <a:prstGeom prst="rect">
            <a:avLst/>
          </a:prstGeom>
          <a:solidFill>
            <a:schemeClr val="accent4">
              <a:lumMod val="20000"/>
              <a:lumOff val="80000"/>
              <a:alpha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03954832-D3F6-DF16-C85F-DEE6401C98F2}"/>
              </a:ext>
            </a:extLst>
          </p:cNvPr>
          <p:cNvSpPr/>
          <p:nvPr/>
        </p:nvSpPr>
        <p:spPr>
          <a:xfrm>
            <a:off x="3337560" y="3232404"/>
            <a:ext cx="347472" cy="905256"/>
          </a:xfrm>
          <a:prstGeom prst="rect">
            <a:avLst/>
          </a:prstGeom>
          <a:solidFill>
            <a:schemeClr val="accent5">
              <a:lumMod val="40000"/>
              <a:lumOff val="60000"/>
              <a:alpha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C95D9409-4944-28D5-8AB0-051F5BCF6F9A}"/>
              </a:ext>
            </a:extLst>
          </p:cNvPr>
          <p:cNvSpPr/>
          <p:nvPr/>
        </p:nvSpPr>
        <p:spPr>
          <a:xfrm>
            <a:off x="3794760" y="3433572"/>
            <a:ext cx="347472" cy="70408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F24630AA-FCF7-3827-169B-1622001EC1D6}"/>
              </a:ext>
            </a:extLst>
          </p:cNvPr>
          <p:cNvSpPr/>
          <p:nvPr/>
        </p:nvSpPr>
        <p:spPr>
          <a:xfrm>
            <a:off x="448056" y="44211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▶  streamlit run app.py</a:t>
            </a:r>
            <a:endParaRPr 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C0AFF990-AE12-44DB-C9B0-4EA7DE38F50D}"/>
              </a:ext>
            </a:extLst>
          </p:cNvPr>
          <p:cNvSpPr/>
          <p:nvPr/>
        </p:nvSpPr>
        <p:spPr>
          <a:xfrm>
            <a:off x="4754880" y="914400"/>
            <a:ext cx="4023360" cy="3977640"/>
          </a:xfrm>
          <a:prstGeom prst="rect">
            <a:avLst/>
          </a:prstGeom>
          <a:solidFill>
            <a:srgbClr val="E8EEF8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E0AFCB65-367D-D79E-93F5-534B21DF50FC}"/>
              </a:ext>
            </a:extLst>
          </p:cNvPr>
          <p:cNvSpPr/>
          <p:nvPr/>
        </p:nvSpPr>
        <p:spPr>
          <a:xfrm>
            <a:off x="484632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Web VentePro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5DC5C1BD-CBB7-9056-8D7E-2460A6CB53E1}"/>
              </a:ext>
            </a:extLst>
          </p:cNvPr>
          <p:cNvSpPr/>
          <p:nvPr/>
        </p:nvSpPr>
        <p:spPr>
          <a:xfrm>
            <a:off x="4892040" y="1389888"/>
            <a:ext cx="374904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96028187-3ECA-F98A-F905-32A16F58FE2A}"/>
              </a:ext>
            </a:extLst>
          </p:cNvPr>
          <p:cNvSpPr/>
          <p:nvPr/>
        </p:nvSpPr>
        <p:spPr>
          <a:xfrm>
            <a:off x="4937760" y="14081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localhost:8000/vente.html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0CB41017-A9C7-3943-0E06-4A7C9416F668}"/>
              </a:ext>
            </a:extLst>
          </p:cNvPr>
          <p:cNvSpPr/>
          <p:nvPr/>
        </p:nvSpPr>
        <p:spPr>
          <a:xfrm>
            <a:off x="4892040" y="1755648"/>
            <a:ext cx="896112" cy="2560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6EBE3025-6840-3560-4A5B-0001D9E0117B}"/>
              </a:ext>
            </a:extLst>
          </p:cNvPr>
          <p:cNvSpPr/>
          <p:nvPr/>
        </p:nvSpPr>
        <p:spPr>
          <a:xfrm>
            <a:off x="4892040" y="1755648"/>
            <a:ext cx="896112" cy="2560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Caisse</a:t>
            </a:r>
            <a:endParaRPr lang="en-US" sz="850" dirty="0"/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4CB9BDD3-385B-0201-18F2-2E182F76A1AB}"/>
              </a:ext>
            </a:extLst>
          </p:cNvPr>
          <p:cNvSpPr/>
          <p:nvPr/>
        </p:nvSpPr>
        <p:spPr>
          <a:xfrm>
            <a:off x="5824728" y="1755648"/>
            <a:ext cx="896112" cy="256032"/>
          </a:xfrm>
          <a:prstGeom prst="rect">
            <a:avLst/>
          </a:prstGeom>
          <a:solidFill>
            <a:schemeClr val="accent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3B609488-5B80-8E11-470E-4939D34F73BD}"/>
              </a:ext>
            </a:extLst>
          </p:cNvPr>
          <p:cNvSpPr/>
          <p:nvPr/>
        </p:nvSpPr>
        <p:spPr>
          <a:xfrm>
            <a:off x="5824728" y="1755648"/>
            <a:ext cx="896112" cy="256032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2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8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679BB380-E7A2-6BE6-8B65-30D2E9D374F7}"/>
              </a:ext>
            </a:extLst>
          </p:cNvPr>
          <p:cNvSpPr/>
          <p:nvPr/>
        </p:nvSpPr>
        <p:spPr>
          <a:xfrm>
            <a:off x="6757416" y="1755648"/>
            <a:ext cx="896112" cy="256032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B90DEBE6-3D7F-C54E-A131-A2928EFA472A}"/>
              </a:ext>
            </a:extLst>
          </p:cNvPr>
          <p:cNvSpPr/>
          <p:nvPr/>
        </p:nvSpPr>
        <p:spPr>
          <a:xfrm>
            <a:off x="6757416" y="17556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Historique</a:t>
            </a:r>
            <a:endParaRPr lang="en-US" sz="850" dirty="0"/>
          </a:p>
        </p:txBody>
      </p:sp>
      <p:sp>
        <p:nvSpPr>
          <p:cNvPr id="38" name="Shape 41">
            <a:extLst>
              <a:ext uri="{FF2B5EF4-FFF2-40B4-BE49-F238E27FC236}">
                <a16:creationId xmlns:a16="http://schemas.microsoft.com/office/drawing/2014/main" id="{DD2D7301-F65D-322E-9A64-141FA18F221A}"/>
              </a:ext>
            </a:extLst>
          </p:cNvPr>
          <p:cNvSpPr/>
          <p:nvPr/>
        </p:nvSpPr>
        <p:spPr>
          <a:xfrm>
            <a:off x="7690104" y="1755648"/>
            <a:ext cx="896112" cy="256032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AFBA6CAF-D55A-66B1-8C98-63E0DCC49683}"/>
              </a:ext>
            </a:extLst>
          </p:cNvPr>
          <p:cNvSpPr/>
          <p:nvPr/>
        </p:nvSpPr>
        <p:spPr>
          <a:xfrm>
            <a:off x="7690104" y="17556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850" dirty="0"/>
          </a:p>
        </p:txBody>
      </p:sp>
      <p:sp>
        <p:nvSpPr>
          <p:cNvPr id="40" name="Shape 43">
            <a:extLst>
              <a:ext uri="{FF2B5EF4-FFF2-40B4-BE49-F238E27FC236}">
                <a16:creationId xmlns:a16="http://schemas.microsoft.com/office/drawing/2014/main" id="{D9A842C7-8EDF-AD3C-0381-A65D22A7E489}"/>
              </a:ext>
            </a:extLst>
          </p:cNvPr>
          <p:cNvSpPr/>
          <p:nvPr/>
        </p:nvSpPr>
        <p:spPr>
          <a:xfrm>
            <a:off x="4892040" y="2103120"/>
            <a:ext cx="3749040" cy="1463040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40E40568-217E-F9EE-C1AE-7121828A8916}"/>
              </a:ext>
            </a:extLst>
          </p:cNvPr>
          <p:cNvSpPr/>
          <p:nvPr/>
        </p:nvSpPr>
        <p:spPr>
          <a:xfrm>
            <a:off x="498348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C0F124D3-A867-FA39-F002-F10FB124CB52}"/>
              </a:ext>
            </a:extLst>
          </p:cNvPr>
          <p:cNvSpPr/>
          <p:nvPr/>
        </p:nvSpPr>
        <p:spPr>
          <a:xfrm>
            <a:off x="4937760" y="2487168"/>
            <a:ext cx="1143000" cy="822960"/>
          </a:xfrm>
          <a:prstGeom prst="rect">
            <a:avLst/>
          </a:prstGeom>
          <a:solidFill>
            <a:schemeClr val="bg1"/>
          </a:solidFill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FA083B46-2BD5-22BD-ED2A-AB94ABEE4CDC}"/>
              </a:ext>
            </a:extLst>
          </p:cNvPr>
          <p:cNvSpPr/>
          <p:nvPr/>
        </p:nvSpPr>
        <p:spPr>
          <a:xfrm>
            <a:off x="4937760" y="25328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8 653 €</a:t>
            </a:r>
            <a:endParaRPr lang="en-US" sz="1300" dirty="0"/>
          </a:p>
        </p:txBody>
      </p:sp>
      <p:sp>
        <p:nvSpPr>
          <p:cNvPr id="44" name="Text 47">
            <a:extLst>
              <a:ext uri="{FF2B5EF4-FFF2-40B4-BE49-F238E27FC236}">
                <a16:creationId xmlns:a16="http://schemas.microsoft.com/office/drawing/2014/main" id="{0F165AED-E3E1-4317-83A1-924F8DE462AB}"/>
              </a:ext>
            </a:extLst>
          </p:cNvPr>
          <p:cNvSpPr/>
          <p:nvPr/>
        </p:nvSpPr>
        <p:spPr>
          <a:xfrm>
            <a:off x="4937760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Net</a:t>
            </a:r>
            <a:endParaRPr lang="en-US" sz="800" dirty="0"/>
          </a:p>
        </p:txBody>
      </p:sp>
      <p:sp>
        <p:nvSpPr>
          <p:cNvPr id="45" name="Shape 48">
            <a:extLst>
              <a:ext uri="{FF2B5EF4-FFF2-40B4-BE49-F238E27FC236}">
                <a16:creationId xmlns:a16="http://schemas.microsoft.com/office/drawing/2014/main" id="{7106BD0B-731D-CBB3-9C4D-D3A73B6B27A0}"/>
              </a:ext>
            </a:extLst>
          </p:cNvPr>
          <p:cNvSpPr/>
          <p:nvPr/>
        </p:nvSpPr>
        <p:spPr>
          <a:xfrm>
            <a:off x="6172200" y="2487168"/>
            <a:ext cx="1143000" cy="822960"/>
          </a:xfrm>
          <a:prstGeom prst="rect">
            <a:avLst/>
          </a:prstGeom>
          <a:solidFill>
            <a:schemeClr val="bg1"/>
          </a:solidFill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9">
            <a:extLst>
              <a:ext uri="{FF2B5EF4-FFF2-40B4-BE49-F238E27FC236}">
                <a16:creationId xmlns:a16="http://schemas.microsoft.com/office/drawing/2014/main" id="{B2AD44E4-C24B-5374-EFFF-448E7FA66345}"/>
              </a:ext>
            </a:extLst>
          </p:cNvPr>
          <p:cNvSpPr/>
          <p:nvPr/>
        </p:nvSpPr>
        <p:spPr>
          <a:xfrm>
            <a:off x="6172200" y="25328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300" dirty="0"/>
          </a:p>
        </p:txBody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9B35C10B-3672-8A4D-8B5A-C6B0A23C2196}"/>
              </a:ext>
            </a:extLst>
          </p:cNvPr>
          <p:cNvSpPr/>
          <p:nvPr/>
        </p:nvSpPr>
        <p:spPr>
          <a:xfrm>
            <a:off x="6172200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</a:t>
            </a:r>
            <a:endParaRPr lang="en-US" sz="800" dirty="0"/>
          </a:p>
        </p:txBody>
      </p:sp>
      <p:sp>
        <p:nvSpPr>
          <p:cNvPr id="48" name="Shape 51">
            <a:extLst>
              <a:ext uri="{FF2B5EF4-FFF2-40B4-BE49-F238E27FC236}">
                <a16:creationId xmlns:a16="http://schemas.microsoft.com/office/drawing/2014/main" id="{635DD927-8610-32EB-C5D7-C66834C0F8B2}"/>
              </a:ext>
            </a:extLst>
          </p:cNvPr>
          <p:cNvSpPr/>
          <p:nvPr/>
        </p:nvSpPr>
        <p:spPr>
          <a:xfrm>
            <a:off x="7406640" y="2487168"/>
            <a:ext cx="1143000" cy="822960"/>
          </a:xfrm>
          <a:prstGeom prst="rect">
            <a:avLst/>
          </a:prstGeom>
          <a:solidFill>
            <a:schemeClr val="bg1"/>
          </a:solidFill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52">
            <a:extLst>
              <a:ext uri="{FF2B5EF4-FFF2-40B4-BE49-F238E27FC236}">
                <a16:creationId xmlns:a16="http://schemas.microsoft.com/office/drawing/2014/main" id="{ADF5DA96-7946-969A-6E1F-BBDE33336257}"/>
              </a:ext>
            </a:extLst>
          </p:cNvPr>
          <p:cNvSpPr/>
          <p:nvPr/>
        </p:nvSpPr>
        <p:spPr>
          <a:xfrm>
            <a:off x="7406640" y="25328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P114</a:t>
            </a:r>
            <a:endParaRPr lang="en-US" sz="1300" dirty="0"/>
          </a:p>
        </p:txBody>
      </p:sp>
      <p:sp>
        <p:nvSpPr>
          <p:cNvPr id="50" name="Text 53">
            <a:extLst>
              <a:ext uri="{FF2B5EF4-FFF2-40B4-BE49-F238E27FC236}">
                <a16:creationId xmlns:a16="http://schemas.microsoft.com/office/drawing/2014/main" id="{39528CEB-5F63-6BE0-D6C8-ADF1CD723BD8}"/>
              </a:ext>
            </a:extLst>
          </p:cNvPr>
          <p:cNvSpPr/>
          <p:nvPr/>
        </p:nvSpPr>
        <p:spPr>
          <a:xfrm>
            <a:off x="7406640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Meilleur</a:t>
            </a:r>
            <a:endParaRPr lang="en-US" sz="800" dirty="0"/>
          </a:p>
        </p:txBody>
      </p:sp>
      <p:sp>
        <p:nvSpPr>
          <p:cNvPr id="51" name="Shape 54">
            <a:extLst>
              <a:ext uri="{FF2B5EF4-FFF2-40B4-BE49-F238E27FC236}">
                <a16:creationId xmlns:a16="http://schemas.microsoft.com/office/drawing/2014/main" id="{B3979124-66F0-EE16-555E-75BCC39518D6}"/>
              </a:ext>
            </a:extLst>
          </p:cNvPr>
          <p:cNvSpPr/>
          <p:nvPr/>
        </p:nvSpPr>
        <p:spPr>
          <a:xfrm>
            <a:off x="4892040" y="3657600"/>
            <a:ext cx="3749040" cy="777240"/>
          </a:xfrm>
          <a:prstGeom prst="rect">
            <a:avLst/>
          </a:prstGeom>
          <a:solidFill>
            <a:schemeClr val="bg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2" name="Text 55">
            <a:extLst>
              <a:ext uri="{FF2B5EF4-FFF2-40B4-BE49-F238E27FC236}">
                <a16:creationId xmlns:a16="http://schemas.microsoft.com/office/drawing/2014/main" id="{B1E57E9B-0BD4-2291-EC04-B672112B3528}"/>
              </a:ext>
            </a:extLst>
          </p:cNvPr>
          <p:cNvSpPr/>
          <p:nvPr/>
        </p:nvSpPr>
        <p:spPr>
          <a:xfrm>
            <a:off x="498348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</a:t>
            </a:r>
            <a:r>
              <a:rPr lang="en-US" sz="1200" b="1" dirty="0"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Historique des ventes en temps réel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📁 Export CSV / Excel en 1 clic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6">
            <a:extLst>
              <a:ext uri="{FF2B5EF4-FFF2-40B4-BE49-F238E27FC236}">
                <a16:creationId xmlns:a16="http://schemas.microsoft.com/office/drawing/2014/main" id="{CBB6FD3A-C800-19EE-1DD4-2FCAED0C81C7}"/>
              </a:ext>
            </a:extLst>
          </p:cNvPr>
          <p:cNvSpPr/>
          <p:nvPr/>
        </p:nvSpPr>
        <p:spPr>
          <a:xfrm>
            <a:off x="489204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▶  python -m http.server 8000</a:t>
            </a:r>
            <a:endParaRPr 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789B1FBD-65A9-DF4F-EE96-81ED54190CCA}"/>
              </a:ext>
            </a:extLst>
          </p:cNvPr>
          <p:cNvSpPr txBox="1"/>
          <p:nvPr/>
        </p:nvSpPr>
        <p:spPr>
          <a:xfrm>
            <a:off x="1877770" y="246102"/>
            <a:ext cx="4931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Démonstration — Aperçu des Interfaces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5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3E0FFA8-B34D-44AA-725E-6987E8523C31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Git, GitHub &amp; Compétences Mobilisées</a:t>
            </a:r>
            <a:endParaRPr lang="en-US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384E12D-01A3-AFE2-2797-7CFCDDEBF2D3}"/>
              </a:ext>
            </a:extLst>
          </p:cNvPr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36AE003-D6A5-AFD3-A6DC-6C1756A0CEBC}"/>
              </a:ext>
            </a:extLst>
          </p:cNvPr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8BF767B-CB2A-A0C9-3800-8A21F1A1A508}"/>
              </a:ext>
            </a:extLst>
          </p:cNvPr>
          <p:cNvSpPr/>
          <p:nvPr/>
        </p:nvSpPr>
        <p:spPr>
          <a:xfrm>
            <a:off x="365760" y="868680"/>
            <a:ext cx="4846320" cy="3977640"/>
          </a:xfrm>
          <a:prstGeom prst="rect">
            <a:avLst/>
          </a:prstGeom>
          <a:solidFill>
            <a:srgbClr val="E8EEF8"/>
          </a:solidFill>
          <a:ln w="635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034FD39-F7C2-CA14-EB42-B321B5627FF2}"/>
              </a:ext>
            </a:extLst>
          </p:cNvPr>
          <p:cNvSpPr/>
          <p:nvPr/>
        </p:nvSpPr>
        <p:spPr>
          <a:xfrm>
            <a:off x="502920" y="960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cs typeface="Segoe UI" pitchFamily="34" charset="-120"/>
              </a:rPr>
              <a:t>Workflow Git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F01E5714-81DD-582A-2792-1ADAC041E5B5}"/>
              </a:ext>
            </a:extLst>
          </p:cNvPr>
          <p:cNvSpPr/>
          <p:nvPr/>
        </p:nvSpPr>
        <p:spPr>
          <a:xfrm>
            <a:off x="502920" y="1325880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5CF9054-37A7-34E1-5FE3-2E5B8185A20D}"/>
              </a:ext>
            </a:extLst>
          </p:cNvPr>
          <p:cNvSpPr/>
          <p:nvPr/>
        </p:nvSpPr>
        <p:spPr>
          <a:xfrm>
            <a:off x="640080" y="1353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E6BB746-8918-224D-5192-5BFBF48E3DA6}"/>
              </a:ext>
            </a:extLst>
          </p:cNvPr>
          <p:cNvSpPr/>
          <p:nvPr/>
        </p:nvSpPr>
        <p:spPr>
          <a:xfrm>
            <a:off x="640080" y="156362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Initialise le dépôt</a:t>
            </a:r>
            <a:endParaRPr lang="en-US" sz="9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ACCA7A6-53CC-873D-8362-3177199C998E}"/>
              </a:ext>
            </a:extLst>
          </p:cNvPr>
          <p:cNvSpPr/>
          <p:nvPr/>
        </p:nvSpPr>
        <p:spPr>
          <a:xfrm>
            <a:off x="502920" y="1856232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CC9491E-9219-3259-0989-A80FF72B565B}"/>
              </a:ext>
            </a:extLst>
          </p:cNvPr>
          <p:cNvSpPr/>
          <p:nvPr/>
        </p:nvSpPr>
        <p:spPr>
          <a:xfrm>
            <a:off x="640080" y="18836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26BC100-414F-D893-37E7-25809C60ECDD}"/>
              </a:ext>
            </a:extLst>
          </p:cNvPr>
          <p:cNvSpPr/>
          <p:nvPr/>
        </p:nvSpPr>
        <p:spPr>
          <a:xfrm>
            <a:off x="640080" y="20939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 tous les fichiers</a:t>
            </a:r>
            <a:endParaRPr lang="en-US" sz="9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4EA3EE5-48A2-F996-5B65-F011951C42AF}"/>
              </a:ext>
            </a:extLst>
          </p:cNvPr>
          <p:cNvSpPr/>
          <p:nvPr/>
        </p:nvSpPr>
        <p:spPr>
          <a:xfrm>
            <a:off x="502920" y="2386584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F2C2A74-E4AF-1EE2-11B6-2955550BF00E}"/>
              </a:ext>
            </a:extLst>
          </p:cNvPr>
          <p:cNvSpPr/>
          <p:nvPr/>
        </p:nvSpPr>
        <p:spPr>
          <a:xfrm>
            <a:off x="640080" y="2414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"Projet final"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3DC5AD7-2AC4-35BD-5AE7-A09B5F3DB918}"/>
              </a:ext>
            </a:extLst>
          </p:cNvPr>
          <p:cNvSpPr/>
          <p:nvPr/>
        </p:nvSpPr>
        <p:spPr>
          <a:xfrm>
            <a:off x="640080" y="2624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Sauvegarde les modifications</a:t>
            </a:r>
            <a:endParaRPr lang="en-US" sz="9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88BF93E5-7C3A-A0A9-8A0C-F7E527E49E4C}"/>
              </a:ext>
            </a:extLst>
          </p:cNvPr>
          <p:cNvSpPr/>
          <p:nvPr/>
        </p:nvSpPr>
        <p:spPr>
          <a:xfrm>
            <a:off x="502920" y="2916936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A43A736-3A8B-A34A-BA2B-258A97E20780}"/>
              </a:ext>
            </a:extLst>
          </p:cNvPr>
          <p:cNvSpPr/>
          <p:nvPr/>
        </p:nvSpPr>
        <p:spPr>
          <a:xfrm>
            <a:off x="640080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2BBDAEC4-27A2-27F9-C2F5-252B4E5D2BFF}"/>
              </a:ext>
            </a:extLst>
          </p:cNvPr>
          <p:cNvSpPr/>
          <p:nvPr/>
        </p:nvSpPr>
        <p:spPr>
          <a:xfrm>
            <a:off x="640080" y="31546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 au dépôt GitHub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0A23BC61-EB4D-6C4E-7B19-5CA4E1B1C174}"/>
              </a:ext>
            </a:extLst>
          </p:cNvPr>
          <p:cNvSpPr/>
          <p:nvPr/>
        </p:nvSpPr>
        <p:spPr>
          <a:xfrm>
            <a:off x="502920" y="3447288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DBF3D81-0D8F-F351-285D-633B83C01792}"/>
              </a:ext>
            </a:extLst>
          </p:cNvPr>
          <p:cNvSpPr/>
          <p:nvPr/>
        </p:nvSpPr>
        <p:spPr>
          <a:xfrm>
            <a:off x="640080" y="3474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A2CC4EB-74FA-8657-EC55-DA1F2360F1F8}"/>
              </a:ext>
            </a:extLst>
          </p:cNvPr>
          <p:cNvSpPr/>
          <p:nvPr/>
        </p:nvSpPr>
        <p:spPr>
          <a:xfrm>
            <a:off x="640080" y="36850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Envoie le code en ligne</a:t>
            </a:r>
            <a:endParaRPr lang="en-US" sz="9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16051742-451C-B326-6437-D72D79DB57D5}"/>
              </a:ext>
            </a:extLst>
          </p:cNvPr>
          <p:cNvSpPr/>
          <p:nvPr/>
        </p:nvSpPr>
        <p:spPr>
          <a:xfrm>
            <a:off x="502920" y="3977640"/>
            <a:ext cx="4544568" cy="457200"/>
          </a:xfrm>
          <a:prstGeom prst="rect">
            <a:avLst/>
          </a:prstGeom>
          <a:solidFill>
            <a:schemeClr val="bg1"/>
          </a:solidFill>
          <a:ln w="381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3CF8A049-F9EF-C6A2-51D3-AF77D0E413AB}"/>
              </a:ext>
            </a:extLst>
          </p:cNvPr>
          <p:cNvSpPr/>
          <p:nvPr/>
        </p:nvSpPr>
        <p:spPr>
          <a:xfrm>
            <a:off x="640080" y="4005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00" b="1" dirty="0">
              <a:solidFill>
                <a:srgbClr val="0066FF"/>
              </a:solidFill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0F7FB7B-FBC5-2B01-F9F4-49209C230741}"/>
              </a:ext>
            </a:extLst>
          </p:cNvPr>
          <p:cNvSpPr/>
          <p:nvPr/>
        </p:nvSpPr>
        <p:spPr>
          <a:xfrm>
            <a:off x="640080" y="42153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Récupère et applique</a:t>
            </a:r>
            <a:endParaRPr lang="en-US" sz="9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20F51F1-751B-41C4-9AE6-17DCB3C351A0}"/>
              </a:ext>
            </a:extLst>
          </p:cNvPr>
          <p:cNvSpPr/>
          <p:nvPr/>
        </p:nvSpPr>
        <p:spPr>
          <a:xfrm>
            <a:off x="5385816" y="868680"/>
            <a:ext cx="3383280" cy="3977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57170B5-FD82-8859-9BAC-65D13F2F4B47}"/>
              </a:ext>
            </a:extLst>
          </p:cNvPr>
          <p:cNvSpPr/>
          <p:nvPr/>
        </p:nvSpPr>
        <p:spPr>
          <a:xfrm>
            <a:off x="5532120" y="960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Compétences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5B6DC3AA-169B-517D-E434-24098A114109}"/>
              </a:ext>
            </a:extLst>
          </p:cNvPr>
          <p:cNvSpPr/>
          <p:nvPr/>
        </p:nvSpPr>
        <p:spPr>
          <a:xfrm>
            <a:off x="5532120" y="1371600"/>
            <a:ext cx="1005840" cy="4389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380E4063-A0D4-CB72-3179-226A481AF355}"/>
              </a:ext>
            </a:extLst>
          </p:cNvPr>
          <p:cNvSpPr/>
          <p:nvPr/>
        </p:nvSpPr>
        <p:spPr>
          <a:xfrm>
            <a:off x="5532120" y="1371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04673704-FE29-326E-CC85-FBF767E9FE2B}"/>
              </a:ext>
            </a:extLst>
          </p:cNvPr>
          <p:cNvSpPr/>
          <p:nvPr/>
        </p:nvSpPr>
        <p:spPr>
          <a:xfrm>
            <a:off x="6611112" y="1371600"/>
            <a:ext cx="1005840" cy="43891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B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A764A76F-55A4-C5BB-07DD-EA7A2ECAF895}"/>
              </a:ext>
            </a:extLst>
          </p:cNvPr>
          <p:cNvSpPr/>
          <p:nvPr/>
        </p:nvSpPr>
        <p:spPr>
          <a:xfrm>
            <a:off x="6611112" y="1371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4865627A-B3AB-0E04-08E0-FA78E3E8C65C}"/>
              </a:ext>
            </a:extLst>
          </p:cNvPr>
          <p:cNvSpPr/>
          <p:nvPr/>
        </p:nvSpPr>
        <p:spPr>
          <a:xfrm>
            <a:off x="7690104" y="1371600"/>
            <a:ext cx="1005840" cy="438912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6858D1C-876E-8E33-75BE-BDF2E182899A}"/>
              </a:ext>
            </a:extLst>
          </p:cNvPr>
          <p:cNvSpPr/>
          <p:nvPr/>
        </p:nvSpPr>
        <p:spPr>
          <a:xfrm>
            <a:off x="7690104" y="1371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4BA47C09-1ED6-6372-CF68-6F38C6E20C9F}"/>
              </a:ext>
            </a:extLst>
          </p:cNvPr>
          <p:cNvSpPr/>
          <p:nvPr/>
        </p:nvSpPr>
        <p:spPr>
          <a:xfrm>
            <a:off x="5532120" y="2121408"/>
            <a:ext cx="1005840" cy="438912"/>
          </a:xfrm>
          <a:prstGeom prst="ellipse">
            <a:avLst/>
          </a:prstGeom>
          <a:solidFill>
            <a:srgbClr val="DCC5ED"/>
          </a:solidFill>
          <a:ln w="12700">
            <a:solidFill>
              <a:srgbClr val="DCC5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1BBCB544-3E50-6E6C-C757-2541C1818384}"/>
              </a:ext>
            </a:extLst>
          </p:cNvPr>
          <p:cNvSpPr/>
          <p:nvPr/>
        </p:nvSpPr>
        <p:spPr>
          <a:xfrm>
            <a:off x="5532120" y="2121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-120"/>
              </a:rPr>
              <a:t>random/seed</a:t>
            </a:r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082AC53-FECE-2102-7C1F-54331FE9E7EC}"/>
              </a:ext>
            </a:extLst>
          </p:cNvPr>
          <p:cNvSpPr/>
          <p:nvPr/>
        </p:nvSpPr>
        <p:spPr>
          <a:xfrm>
            <a:off x="6647688" y="2121408"/>
            <a:ext cx="1005840" cy="438912"/>
          </a:xfrm>
          <a:prstGeom prst="ellipse">
            <a:avLst/>
          </a:prstGeom>
          <a:solidFill>
            <a:srgbClr val="AFFFDF"/>
          </a:solidFill>
          <a:ln w="12700">
            <a:solidFill>
              <a:srgbClr val="3B82F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ctr"/>
            <a:r>
              <a:rPr lang="en-US" sz="105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 UI" pitchFamily="34" charset="0"/>
                <a:cs typeface="Segoe UI" pitchFamily="34" charset="-120"/>
              </a:rPr>
              <a:t>sys.argv</a:t>
            </a:r>
            <a:endParaRPr 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318B0054-37B9-8499-9032-ADDF676856F1}"/>
              </a:ext>
            </a:extLst>
          </p:cNvPr>
          <p:cNvSpPr/>
          <p:nvPr/>
        </p:nvSpPr>
        <p:spPr>
          <a:xfrm>
            <a:off x="7690104" y="2121408"/>
            <a:ext cx="1005840" cy="43891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ACB5D342-19FE-2B52-AFD6-86808617B889}"/>
              </a:ext>
            </a:extLst>
          </p:cNvPr>
          <p:cNvSpPr/>
          <p:nvPr/>
        </p:nvSpPr>
        <p:spPr>
          <a:xfrm>
            <a:off x="7690104" y="2121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10C34CF5-C369-6B3A-CF14-E883429A5F92}"/>
              </a:ext>
            </a:extLst>
          </p:cNvPr>
          <p:cNvSpPr/>
          <p:nvPr/>
        </p:nvSpPr>
        <p:spPr>
          <a:xfrm>
            <a:off x="5532120" y="2871216"/>
            <a:ext cx="1005840" cy="438912"/>
          </a:xfrm>
          <a:prstGeom prst="ellipse">
            <a:avLst/>
          </a:prstGeom>
          <a:solidFill>
            <a:srgbClr val="FB9E5D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75299EB4-BB96-A4D5-ADF5-07ECFE579718}"/>
              </a:ext>
            </a:extLst>
          </p:cNvPr>
          <p:cNvSpPr/>
          <p:nvPr/>
        </p:nvSpPr>
        <p:spPr>
          <a:xfrm>
            <a:off x="5532120" y="28712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950" b="1" dirty="0">
                <a:solidFill>
                  <a:srgbClr val="0070C0"/>
                </a:solidFill>
                <a:latin typeface="Segoe UI" pitchFamily="34" charset="0"/>
                <a:cs typeface="Segoe UI" pitchFamily="34" charset="-120"/>
              </a:rPr>
              <a:t>HTML/JS</a:t>
            </a:r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0D918C3D-B22C-81F5-1B38-A2FDB4202D34}"/>
              </a:ext>
            </a:extLst>
          </p:cNvPr>
          <p:cNvSpPr/>
          <p:nvPr/>
        </p:nvSpPr>
        <p:spPr>
          <a:xfrm>
            <a:off x="6656832" y="2871216"/>
            <a:ext cx="1005840" cy="438912"/>
          </a:xfrm>
          <a:prstGeom prst="ellipse">
            <a:avLst/>
          </a:prstGeom>
          <a:solidFill>
            <a:srgbClr val="CCFF99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fr-FR" sz="95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pandas</a:t>
            </a:r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E3E5F947-860B-87A7-B434-F83227F8A31E}"/>
              </a:ext>
            </a:extLst>
          </p:cNvPr>
          <p:cNvSpPr/>
          <p:nvPr/>
        </p:nvSpPr>
        <p:spPr>
          <a:xfrm>
            <a:off x="7690104" y="2871216"/>
            <a:ext cx="1005840" cy="438912"/>
          </a:xfrm>
          <a:prstGeom prst="ellipse">
            <a:avLst/>
          </a:prstGeom>
          <a:solidFill>
            <a:srgbClr val="ECA6C1"/>
          </a:solidFill>
          <a:ln w="12700">
            <a:solidFill>
              <a:srgbClr val="ECA6C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ctr"/>
            <a:r>
              <a:rPr lang="en-US" sz="900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5B685512-777E-F8F3-D8CB-8AC8F238A04D}"/>
              </a:ext>
            </a:extLst>
          </p:cNvPr>
          <p:cNvSpPr/>
          <p:nvPr/>
        </p:nvSpPr>
        <p:spPr>
          <a:xfrm>
            <a:off x="5532120" y="3621024"/>
            <a:ext cx="1005840" cy="438912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accent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32EDFFF5-952F-C279-B5C2-B0368634452F}"/>
              </a:ext>
            </a:extLst>
          </p:cNvPr>
          <p:cNvSpPr/>
          <p:nvPr/>
        </p:nvSpPr>
        <p:spPr>
          <a:xfrm>
            <a:off x="5532120" y="3621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9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3AD9E8FD-D580-B634-22BC-27C7AF9384B4}"/>
              </a:ext>
            </a:extLst>
          </p:cNvPr>
          <p:cNvSpPr/>
          <p:nvPr/>
        </p:nvSpPr>
        <p:spPr>
          <a:xfrm>
            <a:off x="6647688" y="3639312"/>
            <a:ext cx="1005840" cy="438912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2DF99F4A-2DC3-EEF6-A393-7F3BFE45B501}"/>
              </a:ext>
            </a:extLst>
          </p:cNvPr>
          <p:cNvSpPr/>
          <p:nvPr/>
        </p:nvSpPr>
        <p:spPr>
          <a:xfrm>
            <a:off x="6611112" y="3621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venv</a:t>
            </a:r>
            <a:endParaRPr lang="en-US" sz="950" dirty="0">
              <a:solidFill>
                <a:srgbClr val="002060"/>
              </a:solidFill>
            </a:endParaRPr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769D504D-6CBA-DF40-46F8-D0EB68E16D05}"/>
              </a:ext>
            </a:extLst>
          </p:cNvPr>
          <p:cNvSpPr/>
          <p:nvPr/>
        </p:nvSpPr>
        <p:spPr>
          <a:xfrm>
            <a:off x="7763256" y="3632592"/>
            <a:ext cx="1005840" cy="438912"/>
          </a:xfrm>
          <a:prstGeom prst="ellips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</a:t>
            </a:r>
            <a:endParaRPr lang="en-US" sz="9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71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17000"/>
            </a:schemeClr>
          </a:solidFill>
          <a:ln w="12700">
            <a:solidFill>
              <a:srgbClr val="7C3A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&amp; Perspectives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914400"/>
            <a:ext cx="5166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28600" y="914400"/>
            <a:ext cx="5166360" cy="73152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82634" y="1069848"/>
            <a:ext cx="349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3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73E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 que le projet accomplit</a:t>
            </a:r>
            <a:endParaRPr lang="en-US" sz="1600" dirty="0">
              <a:solidFill>
                <a:srgbClr val="D73E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1536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1527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complète génération &amp; traitement CSV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1837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financiers précis : CA Brut, Net, TVA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148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automatique du meilleur produit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2459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graphiques professionnelles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2770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interfaces complémentaires : script + dashboard + web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" y="30815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avec Git &amp; GitHub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914400"/>
            <a:ext cx="3337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577840" y="914400"/>
            <a:ext cx="3337560" cy="73152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715000" y="1024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Améliorations</a:t>
            </a:r>
            <a:r>
              <a:rPr lang="en-US" sz="1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futures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715000" y="150876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EFF5F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79008" y="15087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Base de données SQL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0" y="1856232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EFF5F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779008" y="185623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Déploiement en ligne (Streamlit Cloud)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2203704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EFF5F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779008" y="220370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Authentification utilisateurs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15000" y="2551176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EFF5F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779008" y="255117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Interface mobile responsive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15000" y="2898648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EFF5F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779008" y="28986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Alertes automatiques par email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2323" y="3822192"/>
            <a:ext cx="6396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github.com/naaaaaaaazz/</a:t>
            </a:r>
            <a:r>
              <a:rPr lang="en-US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-ventes 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d'Automatisation et d'Analyse des Ventes  ·  Projet de Fin d'Année  ·  Matière : Logiciels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chemeClr val="accent1">
              <a:lumMod val="20000"/>
              <a:lumOff val="80000"/>
              <a:alpha val="17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91332577-2754-BD1A-1A08-6D88401F4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61" y="943007"/>
            <a:ext cx="509713" cy="509713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165E7E6E-42B4-02A7-0E3F-D78430DA6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51" y="1573113"/>
            <a:ext cx="182650" cy="182650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921450F4-1696-996F-AAB4-2EAAAFA6C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7" y="2832074"/>
            <a:ext cx="182650" cy="182650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5D171EF0-D8CA-A7A7-F445-A50A467E6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14" y="2530552"/>
            <a:ext cx="182650" cy="182650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98167117-0EF0-DD24-F4A2-B938BDDED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14" y="2221780"/>
            <a:ext cx="182650" cy="182650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330BDA1F-B264-E854-AF66-4085EC2A2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90" y="1884188"/>
            <a:ext cx="182650" cy="182650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8E0B733A-F533-6170-5805-ABF7F7248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7" y="3158017"/>
            <a:ext cx="182650" cy="182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962</Words>
  <Application>Microsoft Office PowerPoint</Application>
  <PresentationFormat>Affichage à l'écran (16:9)</PresentationFormat>
  <Paragraphs>224</Paragraphs>
  <Slides>13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Consolas</vt:lpstr>
      <vt:lpstr>Poppins</vt:lpstr>
      <vt:lpstr>Segoe UI</vt:lpstr>
      <vt:lpstr>Times New Roman</vt:lpstr>
      <vt:lpstr>Office Theme</vt:lpstr>
      <vt:lpstr>1_Office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d'Automatisation des Ventes — PFA</dc:title>
  <dc:subject>PptxGenJS Presentation</dc:subject>
  <dc:creator>HOUAMI Molka • LOUATI Mariem • JAZZAR Emna</dc:creator>
  <cp:lastModifiedBy>mariem louati</cp:lastModifiedBy>
  <cp:revision>2</cp:revision>
  <dcterms:created xsi:type="dcterms:W3CDTF">2026-04-26T09:07:32Z</dcterms:created>
  <dcterms:modified xsi:type="dcterms:W3CDTF">2026-04-26T21:56:54Z</dcterms:modified>
</cp:coreProperties>
</file>